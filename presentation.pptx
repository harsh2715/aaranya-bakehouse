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I will present my Digital Innovation in Business project: a website designed for a fictional home-based bakery called Aaranya Bakehouse. I will walk you through the business concept, the website structure, design decisions, content strategy, SEO and future improvements.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Aaranya Bakehouse is a fictional home-based bakery. It offers custom cakes, cupcakes, cookies and dessert boxes. The target audience includes people planning birthdays, anniversaries and small celebrations. The business purpose is to provide a simple online presence where customers can discover products and send an enquiry.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has four main pages: Home, About Us, Products/Services and Contact Us. The Home page introduces the brand and product categories. About Us tells the story and values. Products/Services explains each offering and a simple 3-step order process. Contact Us provides details and an enquiry form. The four product categories are Custom Cakes, Cupcakes, Cookies and Dessert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should show actual screenshots from the live website. I will navigate through Home, Products/Services and Contact Us to demonstrate the CTAs, navigation and form. On mobile, the hamburger menu opens the navigation and the layout remains readable without horizontal scrolling.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colour palette uses warm cream, cocoa brown and terracotta to match a handcrafted bakery feel. Georgia and Calibri keep the typography readable and elegant. The logo is a simple SVG mark. Layouts use cards and clear sections. The site is responsive with a hamburger menu on mobile. CTAs are placed prominently to drive enquiry.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 strategy uses concise, customer-focused copy and keeps the tone warm. CTAs guide visitors toward enquiry. The POEM strategy covers Paid media through targeted social ads, Owned media via the website and social profiles, and Earned media through genuine reviews and customer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SEO was implemented through unique page titles, meta descriptions, semantic headings and natural keyword usage. Target keywords include custom cakes, home bakery, celebration cakes, cupcakes, cookies and dessert boxes. Internal navigation uses descriptive links, and meaningful images include descriptive alt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improvements include online ordering, customer reviews, local SEO and analytics. The main learning from this project was end-to-end website planning: from brand identity and responsive design to content strategy, SEO and a simple POEM marketing framework. Thank you for your time.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A2C2A"/>
        </a:solidFill>
      </p:bgPr>
    </p:bg>
    <p:spTree>
      <p:nvGrpSpPr>
        <p:cNvPr id="1" name=""/>
        <p:cNvGrpSpPr/>
        <p:nvPr/>
      </p:nvGrpSpPr>
      <p:grpSpPr>
        <a:xfrm>
          <a:off x="0" y="0"/>
          <a:ext cx="0" cy="0"/>
          <a:chOff x="0" y="0"/>
          <a:chExt cx="0" cy="0"/>
        </a:xfrm>
      </p:grpSpPr>
      <p:sp>
        <p:nvSpPr>
          <p:cNvPr id="2" name="Text 0"/>
          <p:cNvSpPr/>
          <p:nvPr/>
        </p:nvSpPr>
        <p:spPr>
          <a:xfrm>
            <a:off x="457200" y="1645920"/>
            <a:ext cx="11274552" cy="109728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Digital Innovation in Business</a:t>
            </a:r>
            <a:endParaRPr lang="en-US" sz="4000" dirty="0"/>
          </a:p>
        </p:txBody>
      </p:sp>
      <p:sp>
        <p:nvSpPr>
          <p:cNvPr id="3" name="Text 1"/>
          <p:cNvSpPr/>
          <p:nvPr/>
        </p:nvSpPr>
        <p:spPr>
          <a:xfrm>
            <a:off x="457200" y="2743200"/>
            <a:ext cx="11274552" cy="822960"/>
          </a:xfrm>
          <a:prstGeom prst="rect">
            <a:avLst/>
          </a:prstGeom>
          <a:noFill/>
          <a:ln/>
        </p:spPr>
        <p:txBody>
          <a:bodyPr wrap="square" rtlCol="0" anchor="ctr"/>
          <a:lstStyle/>
          <a:p>
            <a:pPr algn="ctr" indent="0" marL="0">
              <a:buNone/>
            </a:pPr>
            <a:r>
              <a:rPr lang="en-US" sz="2800" dirty="0">
                <a:solidFill>
                  <a:srgbClr val="F2E8DC"/>
                </a:solidFill>
                <a:latin typeface="Georgia" pitchFamily="34" charset="0"/>
                <a:ea typeface="Georgia" pitchFamily="34" charset="-122"/>
                <a:cs typeface="Georgia" pitchFamily="34" charset="-120"/>
              </a:rPr>
              <a:t>Aaranya Bakehouse Website Project</a:t>
            </a:r>
            <a:endParaRPr lang="en-US" sz="2800" dirty="0"/>
          </a:p>
        </p:txBody>
      </p:sp>
      <p:sp>
        <p:nvSpPr>
          <p:cNvPr id="4" name="Text 2"/>
          <p:cNvSpPr/>
          <p:nvPr/>
        </p:nvSpPr>
        <p:spPr>
          <a:xfrm>
            <a:off x="457200" y="3840480"/>
            <a:ext cx="11274552" cy="1371600"/>
          </a:xfrm>
          <a:prstGeom prst="rect">
            <a:avLst/>
          </a:prstGeom>
          <a:noFill/>
          <a:ln/>
        </p:spPr>
        <p:txBody>
          <a:bodyPr wrap="square" rtlCol="0" anchor="ctr"/>
          <a:lstStyle/>
          <a:p>
            <a:pPr algn="ctr" indent="0" marL="0">
              <a:lnSpc>
                <a:spcPct val="150000"/>
              </a:lnSpc>
              <a:buNone/>
            </a:pPr>
            <a:r>
              <a:rPr lang="en-US" sz="1600" dirty="0">
                <a:solidFill>
                  <a:srgbClr val="D7CCC8"/>
                </a:solidFill>
                <a:latin typeface="Calibri" pitchFamily="34" charset="0"/>
                <a:ea typeface="Calibri" pitchFamily="34" charset="-122"/>
                <a:cs typeface="Calibri" pitchFamily="34" charset="-120"/>
              </a:rPr>
              <a:t>Name: Himani Gupta</a:t>
            </a:r>
            <a:endParaRPr lang="en-US" sz="1600" dirty="0"/>
          </a:p>
          <a:p>
            <a:pPr algn="ctr" indent="0" marL="0">
              <a:lnSpc>
                <a:spcPct val="150000"/>
              </a:lnSpc>
              <a:buNone/>
            </a:pPr>
            <a:r>
              <a:rPr lang="en-US" sz="1600" dirty="0">
                <a:solidFill>
                  <a:srgbClr val="D7CCC8"/>
                </a:solidFill>
                <a:latin typeface="Calibri" pitchFamily="34" charset="0"/>
                <a:ea typeface="Calibri" pitchFamily="34" charset="-122"/>
                <a:cs typeface="Calibri" pitchFamily="34" charset="-120"/>
              </a:rPr>
              <a:t>Roll No.: PGON26108</a:t>
            </a:r>
            <a:endParaRPr lang="en-US" sz="1600" dirty="0"/>
          </a:p>
          <a:p>
            <a:pPr algn="ctr" indent="0" marL="0">
              <a:lnSpc>
                <a:spcPct val="150000"/>
              </a:lnSpc>
              <a:buNone/>
            </a:pPr>
            <a:r>
              <a:rPr lang="en-US" sz="1600" dirty="0">
                <a:solidFill>
                  <a:srgbClr val="D7CCC8"/>
                </a:solidFill>
                <a:latin typeface="Calibri" pitchFamily="34" charset="0"/>
                <a:ea typeface="Calibri" pitchFamily="34" charset="-122"/>
                <a:cs typeface="Calibri" pitchFamily="34" charset="-120"/>
              </a:rPr>
              <a:t>Course Code: 2106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F0"/>
        </a:solidFill>
      </p:bgPr>
    </p:bg>
    <p:spTree>
      <p:nvGrpSpPr>
        <p:cNvPr id="1" name=""/>
        <p:cNvGrpSpPr/>
        <p:nvPr/>
      </p:nvGrpSpPr>
      <p:grpSpPr>
        <a:xfrm>
          <a:off x="0" y="0"/>
          <a:ext cx="0" cy="0"/>
          <a:chOff x="0" y="0"/>
          <a:chExt cx="0" cy="0"/>
        </a:xfrm>
      </p:grpSpPr>
      <p:sp>
        <p:nvSpPr>
          <p:cNvPr id="2" name="Shape 0"/>
          <p:cNvSpPr/>
          <p:nvPr/>
        </p:nvSpPr>
        <p:spPr>
          <a:xfrm>
            <a:off x="457200" y="457200"/>
            <a:ext cx="11274552" cy="73152"/>
          </a:xfrm>
          <a:prstGeom prst="rect">
            <a:avLst/>
          </a:prstGeom>
          <a:solidFill>
            <a:srgbClr val="C97B5D"/>
          </a:solidFill>
          <a:ln/>
        </p:spPr>
      </p:sp>
      <p:sp>
        <p:nvSpPr>
          <p:cNvPr id="3" name="Text 1"/>
          <p:cNvSpPr/>
          <p:nvPr/>
        </p:nvSpPr>
        <p:spPr>
          <a:xfrm>
            <a:off x="457200" y="228600"/>
            <a:ext cx="11274552" cy="640080"/>
          </a:xfrm>
          <a:prstGeom prst="rect">
            <a:avLst/>
          </a:prstGeom>
          <a:noFill/>
          <a:ln/>
        </p:spPr>
        <p:txBody>
          <a:bodyPr wrap="square" rtlCol="0" anchor="ctr"/>
          <a:lstStyle/>
          <a:p>
            <a:pPr indent="0" marL="0">
              <a:buNone/>
            </a:pPr>
            <a:r>
              <a:rPr lang="en-US" sz="3200" b="1" dirty="0">
                <a:solidFill>
                  <a:srgbClr val="4A2C2A"/>
                </a:solidFill>
                <a:latin typeface="Georgia" pitchFamily="34" charset="0"/>
                <a:ea typeface="Georgia" pitchFamily="34" charset="-122"/>
                <a:cs typeface="Georgia" pitchFamily="34" charset="-120"/>
              </a:rPr>
              <a:t>Business Introduction</a:t>
            </a:r>
            <a:endParaRPr lang="en-US" sz="3200" dirty="0"/>
          </a:p>
        </p:txBody>
      </p:sp>
      <p:sp>
        <p:nvSpPr>
          <p:cNvPr id="4" name="Text 2"/>
          <p:cNvSpPr/>
          <p:nvPr/>
        </p:nvSpPr>
        <p:spPr>
          <a:xfrm>
            <a:off x="457200" y="1005840"/>
            <a:ext cx="11274552" cy="548640"/>
          </a:xfrm>
          <a:prstGeom prst="rect">
            <a:avLst/>
          </a:prstGeom>
          <a:noFill/>
          <a:ln/>
        </p:spPr>
        <p:txBody>
          <a:bodyPr wrap="square" rtlCol="0" anchor="ctr"/>
          <a:lstStyle/>
          <a:p>
            <a:pPr indent="0" marL="0">
              <a:buNone/>
            </a:pPr>
            <a:r>
              <a:rPr lang="en-US" sz="2200" b="1" dirty="0">
                <a:solidFill>
                  <a:srgbClr val="C97B5D"/>
                </a:solidFill>
                <a:latin typeface="Georgia" pitchFamily="34" charset="0"/>
                <a:ea typeface="Georgia" pitchFamily="34" charset="-122"/>
                <a:cs typeface="Georgia" pitchFamily="34" charset="-120"/>
              </a:rPr>
              <a:t>Aaranya Bakehouse</a:t>
            </a:r>
            <a:endParaRPr lang="en-US" sz="2200" dirty="0"/>
          </a:p>
        </p:txBody>
      </p:sp>
      <p:sp>
        <p:nvSpPr>
          <p:cNvPr id="5" name="Text 3"/>
          <p:cNvSpPr/>
          <p:nvPr/>
        </p:nvSpPr>
        <p:spPr>
          <a:xfrm>
            <a:off x="457200" y="1645920"/>
            <a:ext cx="11274552" cy="457200"/>
          </a:xfrm>
          <a:prstGeom prst="rect">
            <a:avLst/>
          </a:prstGeom>
          <a:noFill/>
          <a:ln/>
        </p:spPr>
        <p:txBody>
          <a:bodyPr wrap="square" rtlCol="0" anchor="ctr"/>
          <a:lstStyle/>
          <a:p>
            <a:pPr indent="0" marL="0">
              <a:buNone/>
            </a:pPr>
            <a:r>
              <a:rPr lang="en-US" sz="1600" b="1" dirty="0">
                <a:solidFill>
                  <a:srgbClr val="4A2C2A"/>
                </a:solidFill>
                <a:latin typeface="Calibri" pitchFamily="34" charset="0"/>
                <a:ea typeface="Calibri" pitchFamily="34" charset="-122"/>
                <a:cs typeface="Calibri" pitchFamily="34" charset="-120"/>
              </a:rPr>
              <a:t>Business concept: </a:t>
            </a:r>
            <a:pPr indent="0" marL="0">
              <a:buNone/>
            </a:pPr>
            <a:r>
              <a:rPr lang="en-US" sz="1600" dirty="0">
                <a:solidFill>
                  <a:srgbClr val="4A2C2A"/>
                </a:solidFill>
                <a:latin typeface="Calibri" pitchFamily="34" charset="0"/>
                <a:ea typeface="Calibri" pitchFamily="34" charset="-122"/>
                <a:cs typeface="Calibri" pitchFamily="34" charset="-120"/>
              </a:rPr>
              <a:t>A proposed home-based bakery offering fresh, personalised baked products for celebrations and gifting.</a:t>
            </a:r>
            <a:endParaRPr lang="en-US" sz="1600" dirty="0"/>
          </a:p>
        </p:txBody>
      </p:sp>
      <p:sp>
        <p:nvSpPr>
          <p:cNvPr id="6" name="Text 4"/>
          <p:cNvSpPr/>
          <p:nvPr/>
        </p:nvSpPr>
        <p:spPr>
          <a:xfrm>
            <a:off x="457200" y="2148840"/>
            <a:ext cx="11274552" cy="457200"/>
          </a:xfrm>
          <a:prstGeom prst="rect">
            <a:avLst/>
          </a:prstGeom>
          <a:noFill/>
          <a:ln/>
        </p:spPr>
        <p:txBody>
          <a:bodyPr wrap="square" rtlCol="0" anchor="ctr"/>
          <a:lstStyle/>
          <a:p>
            <a:pPr indent="0" marL="0">
              <a:buNone/>
            </a:pPr>
            <a:r>
              <a:rPr lang="en-US" sz="1600" b="1" dirty="0">
                <a:solidFill>
                  <a:srgbClr val="4A2C2A"/>
                </a:solidFill>
                <a:latin typeface="Calibri" pitchFamily="34" charset="0"/>
                <a:ea typeface="Calibri" pitchFamily="34" charset="-122"/>
                <a:cs typeface="Calibri" pitchFamily="34" charset="-120"/>
              </a:rPr>
              <a:t>Core offerings: </a:t>
            </a:r>
            <a:pPr indent="0" marL="0">
              <a:buNone/>
            </a:pPr>
            <a:r>
              <a:rPr lang="en-US" sz="1600" dirty="0">
                <a:solidFill>
                  <a:srgbClr val="4A2C2A"/>
                </a:solidFill>
                <a:latin typeface="Calibri" pitchFamily="34" charset="0"/>
                <a:ea typeface="Calibri" pitchFamily="34" charset="-122"/>
                <a:cs typeface="Calibri" pitchFamily="34" charset="-120"/>
              </a:rPr>
              <a:t>Custom cakes, cupcakes, cookies and dessert boxes.</a:t>
            </a:r>
            <a:endParaRPr lang="en-US" sz="1600" dirty="0"/>
          </a:p>
        </p:txBody>
      </p:sp>
      <p:sp>
        <p:nvSpPr>
          <p:cNvPr id="7" name="Text 5"/>
          <p:cNvSpPr/>
          <p:nvPr/>
        </p:nvSpPr>
        <p:spPr>
          <a:xfrm>
            <a:off x="457200" y="2651760"/>
            <a:ext cx="11274552" cy="457200"/>
          </a:xfrm>
          <a:prstGeom prst="rect">
            <a:avLst/>
          </a:prstGeom>
          <a:noFill/>
          <a:ln/>
        </p:spPr>
        <p:txBody>
          <a:bodyPr wrap="square" rtlCol="0" anchor="ctr"/>
          <a:lstStyle/>
          <a:p>
            <a:pPr indent="0" marL="0">
              <a:buNone/>
            </a:pPr>
            <a:r>
              <a:rPr lang="en-US" sz="1600" b="1" dirty="0">
                <a:solidFill>
                  <a:srgbClr val="4A2C2A"/>
                </a:solidFill>
                <a:latin typeface="Calibri" pitchFamily="34" charset="0"/>
                <a:ea typeface="Calibri" pitchFamily="34" charset="-122"/>
                <a:cs typeface="Calibri" pitchFamily="34" charset="-120"/>
              </a:rPr>
              <a:t>Target customers: </a:t>
            </a:r>
            <a:pPr indent="0" marL="0">
              <a:buNone/>
            </a:pPr>
            <a:r>
              <a:rPr lang="en-US" sz="1600" dirty="0">
                <a:solidFill>
                  <a:srgbClr val="4A2C2A"/>
                </a:solidFill>
                <a:latin typeface="Calibri" pitchFamily="34" charset="0"/>
                <a:ea typeface="Calibri" pitchFamily="34" charset="-122"/>
                <a:cs typeface="Calibri" pitchFamily="34" charset="-120"/>
              </a:rPr>
              <a:t>People looking for customised bakes for birthdays, anniversaries, small events and gifting.</a:t>
            </a:r>
            <a:endParaRPr lang="en-US" sz="1600" dirty="0"/>
          </a:p>
        </p:txBody>
      </p:sp>
      <p:sp>
        <p:nvSpPr>
          <p:cNvPr id="8" name="Text 6"/>
          <p:cNvSpPr/>
          <p:nvPr/>
        </p:nvSpPr>
        <p:spPr>
          <a:xfrm>
            <a:off x="457200" y="3154680"/>
            <a:ext cx="11274552" cy="457200"/>
          </a:xfrm>
          <a:prstGeom prst="rect">
            <a:avLst/>
          </a:prstGeom>
          <a:noFill/>
          <a:ln/>
        </p:spPr>
        <p:txBody>
          <a:bodyPr wrap="square" rtlCol="0" anchor="ctr"/>
          <a:lstStyle/>
          <a:p>
            <a:pPr indent="0" marL="0">
              <a:buNone/>
            </a:pPr>
            <a:r>
              <a:rPr lang="en-US" sz="1600" b="1" dirty="0">
                <a:solidFill>
                  <a:srgbClr val="4A2C2A"/>
                </a:solidFill>
                <a:latin typeface="Calibri" pitchFamily="34" charset="0"/>
                <a:ea typeface="Calibri" pitchFamily="34" charset="-122"/>
                <a:cs typeface="Calibri" pitchFamily="34" charset="-120"/>
              </a:rPr>
              <a:t>Business purpose: </a:t>
            </a:r>
            <a:pPr indent="0" marL="0">
              <a:buNone/>
            </a:pPr>
            <a:r>
              <a:rPr lang="en-US" sz="1600" dirty="0">
                <a:solidFill>
                  <a:srgbClr val="4A2C2A"/>
                </a:solidFill>
                <a:latin typeface="Calibri" pitchFamily="34" charset="0"/>
                <a:ea typeface="Calibri" pitchFamily="34" charset="-122"/>
                <a:cs typeface="Calibri" pitchFamily="34" charset="-120"/>
              </a:rPr>
              <a:t>To provide a simple, warm and enquiry-based online presence that helps customers discover offerings and connect easily.</a:t>
            </a:r>
            <a:endParaRPr lang="en-US" sz="1600" dirty="0"/>
          </a:p>
        </p:txBody>
      </p:sp>
      <p:sp>
        <p:nvSpPr>
          <p:cNvPr id="9" name="Shape 7"/>
          <p:cNvSpPr/>
          <p:nvPr/>
        </p:nvSpPr>
        <p:spPr>
          <a:xfrm>
            <a:off x="457200" y="3931920"/>
            <a:ext cx="3200400" cy="1463040"/>
          </a:xfrm>
          <a:prstGeom prst="roundRect">
            <a:avLst/>
          </a:prstGeom>
          <a:solidFill>
            <a:srgbClr val="F2E8DC"/>
          </a:solidFill>
          <a:ln/>
          <a:effectLst>
            <a:outerShdw sx="100000" sy="100000" kx="0" ky="0" algn="bl" rotWithShape="0" blurRad="50800" dist="25400" dir="8100000">
              <a:srgbClr val="000000">
                <a:alpha val="10000"/>
              </a:srgbClr>
            </a:outerShdw>
          </a:effectLst>
        </p:spPr>
      </p:sp>
      <p:sp>
        <p:nvSpPr>
          <p:cNvPr id="10" name="Text 8"/>
          <p:cNvSpPr/>
          <p:nvPr/>
        </p:nvSpPr>
        <p:spPr>
          <a:xfrm>
            <a:off x="640080" y="4023360"/>
            <a:ext cx="2834640" cy="1097280"/>
          </a:xfrm>
          <a:prstGeom prst="rect">
            <a:avLst/>
          </a:prstGeom>
          <a:noFill/>
          <a:ln/>
        </p:spPr>
        <p:txBody>
          <a:bodyPr wrap="square" rtlCol="0" anchor="ctr"/>
          <a:lstStyle/>
          <a:p>
            <a:pPr algn="ctr" indent="0" marL="0">
              <a:buNone/>
            </a:pPr>
            <a:r>
              <a:rPr lang="en-US" sz="1400" dirty="0">
                <a:solidFill>
                  <a:srgbClr val="4A2C2A"/>
                </a:solidFill>
                <a:latin typeface="Calibri" pitchFamily="34" charset="0"/>
                <a:ea typeface="Calibri" pitchFamily="34" charset="-122"/>
                <a:cs typeface="Calibri" pitchFamily="34" charset="-120"/>
              </a:rPr>
              <a:t>Home-based</a:t>
            </a:r>
            <a:endParaRPr lang="en-US" sz="1400" dirty="0"/>
          </a:p>
          <a:p>
            <a:pPr algn="ctr" indent="0" marL="0">
              <a:buNone/>
            </a:pPr>
            <a:r>
              <a:rPr lang="en-US" sz="1400" dirty="0">
                <a:solidFill>
                  <a:srgbClr val="4A2C2A"/>
                </a:solidFill>
                <a:latin typeface="Calibri" pitchFamily="34" charset="0"/>
                <a:ea typeface="Calibri" pitchFamily="34" charset="-122"/>
                <a:cs typeface="Calibri" pitchFamily="34" charset="-120"/>
              </a:rPr>
              <a:t>Custom bakery</a:t>
            </a:r>
            <a:endParaRPr lang="en-US" sz="1400" dirty="0"/>
          </a:p>
          <a:p>
            <a:pPr algn="ctr" indent="0" marL="0">
              <a:buNone/>
            </a:pPr>
            <a:r>
              <a:rPr lang="en-US" sz="1400" dirty="0">
                <a:solidFill>
                  <a:srgbClr val="4A2C2A"/>
                </a:solidFill>
                <a:latin typeface="Calibri" pitchFamily="34" charset="0"/>
                <a:ea typeface="Calibri" pitchFamily="34" charset="-122"/>
                <a:cs typeface="Calibri" pitchFamily="34" charset="-120"/>
              </a:rPr>
              <a:t>Celebration focus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F0"/>
        </a:solidFill>
      </p:bgPr>
    </p:bg>
    <p:spTree>
      <p:nvGrpSpPr>
        <p:cNvPr id="1" name=""/>
        <p:cNvGrpSpPr/>
        <p:nvPr/>
      </p:nvGrpSpPr>
      <p:grpSpPr>
        <a:xfrm>
          <a:off x="0" y="0"/>
          <a:ext cx="0" cy="0"/>
          <a:chOff x="0" y="0"/>
          <a:chExt cx="0" cy="0"/>
        </a:xfrm>
      </p:grpSpPr>
      <p:sp>
        <p:nvSpPr>
          <p:cNvPr id="2" name="Shape 0"/>
          <p:cNvSpPr/>
          <p:nvPr/>
        </p:nvSpPr>
        <p:spPr>
          <a:xfrm>
            <a:off x="457200" y="457200"/>
            <a:ext cx="11274552" cy="73152"/>
          </a:xfrm>
          <a:prstGeom prst="rect">
            <a:avLst/>
          </a:prstGeom>
          <a:solidFill>
            <a:srgbClr val="C97B5D"/>
          </a:solidFill>
          <a:ln/>
        </p:spPr>
      </p:sp>
      <p:sp>
        <p:nvSpPr>
          <p:cNvPr id="3" name="Text 1"/>
          <p:cNvSpPr/>
          <p:nvPr/>
        </p:nvSpPr>
        <p:spPr>
          <a:xfrm>
            <a:off x="457200" y="228600"/>
            <a:ext cx="11274552" cy="640080"/>
          </a:xfrm>
          <a:prstGeom prst="rect">
            <a:avLst/>
          </a:prstGeom>
          <a:noFill/>
          <a:ln/>
        </p:spPr>
        <p:txBody>
          <a:bodyPr wrap="square" rtlCol="0" anchor="ctr"/>
          <a:lstStyle/>
          <a:p>
            <a:pPr indent="0" marL="0">
              <a:buNone/>
            </a:pPr>
            <a:r>
              <a:rPr lang="en-US" sz="3200" b="1" dirty="0">
                <a:solidFill>
                  <a:srgbClr val="4A2C2A"/>
                </a:solidFill>
                <a:latin typeface="Georgia" pitchFamily="34" charset="0"/>
                <a:ea typeface="Georgia" pitchFamily="34" charset="-122"/>
                <a:cs typeface="Georgia" pitchFamily="34" charset="-120"/>
              </a:rPr>
              <a:t>Website Structure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3200400"/>
                <a:gridCol w="7772400"/>
              </a:tblGrid>
              <a:tr h="4572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Page</a:t>
                      </a:r>
                      <a:endParaRPr lang="en-US" sz="15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4A2C2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Purpose</a:t>
                      </a:r>
                      <a:endParaRPr lang="en-US" sz="15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4A2C2A"/>
                    </a:solidFill>
                  </a:tcPr>
                </a:tc>
              </a:tr>
              <a:tr h="548640">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Home</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Introduce the bakery, showcase categories and guide visitors to enquiry.</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About Us</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Share the business story, approach and core values.</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Products / Services</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Display the four core offerings and the 3-step custom-order process.</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Contact Us</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Provide contact details and a validated enquiry form.</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4023360"/>
            <a:ext cx="11274552" cy="457200"/>
          </a:xfrm>
          <a:prstGeom prst="rect">
            <a:avLst/>
          </a:prstGeom>
          <a:noFill/>
          <a:ln/>
        </p:spPr>
        <p:txBody>
          <a:bodyPr wrap="square" rtlCol="0" anchor="ctr"/>
          <a:lstStyle/>
          <a:p>
            <a:pPr indent="0" marL="0">
              <a:buNone/>
            </a:pPr>
            <a:r>
              <a:rPr lang="en-US" sz="1400" i="1" dirty="0">
                <a:solidFill>
                  <a:srgbClr val="7E7B72"/>
                </a:solidFill>
                <a:latin typeface="Calibri" pitchFamily="34" charset="0"/>
                <a:ea typeface="Calibri" pitchFamily="34" charset="-122"/>
                <a:cs typeface="Calibri" pitchFamily="34" charset="-120"/>
              </a:rPr>
              <a:t>Product categories under Products / Services: Custom Cakes, Cupcakes, Cookies, Dessert Boxes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F0"/>
        </a:solidFill>
      </p:bgPr>
    </p:bg>
    <p:spTree>
      <p:nvGrpSpPr>
        <p:cNvPr id="1" name=""/>
        <p:cNvGrpSpPr/>
        <p:nvPr/>
      </p:nvGrpSpPr>
      <p:grpSpPr>
        <a:xfrm>
          <a:off x="0" y="0"/>
          <a:ext cx="0" cy="0"/>
          <a:chOff x="0" y="0"/>
          <a:chExt cx="0" cy="0"/>
        </a:xfrm>
      </p:grpSpPr>
      <p:sp>
        <p:nvSpPr>
          <p:cNvPr id="2" name="Shape 0"/>
          <p:cNvSpPr/>
          <p:nvPr/>
        </p:nvSpPr>
        <p:spPr>
          <a:xfrm>
            <a:off x="457200" y="457200"/>
            <a:ext cx="11274552" cy="73152"/>
          </a:xfrm>
          <a:prstGeom prst="rect">
            <a:avLst/>
          </a:prstGeom>
          <a:solidFill>
            <a:srgbClr val="C97B5D"/>
          </a:solidFill>
          <a:ln/>
        </p:spPr>
      </p:sp>
      <p:sp>
        <p:nvSpPr>
          <p:cNvPr id="3" name="Text 1"/>
          <p:cNvSpPr/>
          <p:nvPr/>
        </p:nvSpPr>
        <p:spPr>
          <a:xfrm>
            <a:off x="457200" y="228600"/>
            <a:ext cx="11274552" cy="640080"/>
          </a:xfrm>
          <a:prstGeom prst="rect">
            <a:avLst/>
          </a:prstGeom>
          <a:noFill/>
          <a:ln/>
        </p:spPr>
        <p:txBody>
          <a:bodyPr wrap="square" rtlCol="0" anchor="ctr"/>
          <a:lstStyle/>
          <a:p>
            <a:pPr indent="0" marL="0">
              <a:buNone/>
            </a:pPr>
            <a:r>
              <a:rPr lang="en-US" sz="3200" b="1" dirty="0">
                <a:solidFill>
                  <a:srgbClr val="4A2C2A"/>
                </a:solidFill>
                <a:latin typeface="Georgia" pitchFamily="34" charset="0"/>
                <a:ea typeface="Georgia" pitchFamily="34" charset="-122"/>
                <a:cs typeface="Georgia" pitchFamily="34" charset="-120"/>
              </a:rPr>
              <a:t>Website Demonstration</a:t>
            </a:r>
            <a:endParaRPr lang="en-US" sz="3200" dirty="0"/>
          </a:p>
        </p:txBody>
      </p:sp>
      <p:sp>
        <p:nvSpPr>
          <p:cNvPr id="4" name="Text 2"/>
          <p:cNvSpPr/>
          <p:nvPr/>
        </p:nvSpPr>
        <p:spPr>
          <a:xfrm>
            <a:off x="457200" y="1005840"/>
            <a:ext cx="11274552" cy="365760"/>
          </a:xfrm>
          <a:prstGeom prst="rect">
            <a:avLst/>
          </a:prstGeom>
          <a:noFill/>
          <a:ln/>
        </p:spPr>
        <p:txBody>
          <a:bodyPr wrap="square" rtlCol="0" anchor="ctr"/>
          <a:lstStyle/>
          <a:p>
            <a:pPr indent="0" marL="0">
              <a:buNone/>
            </a:pPr>
            <a:r>
              <a:rPr lang="en-US" sz="1600" dirty="0">
                <a:solidFill>
                  <a:srgbClr val="7E7B72"/>
                </a:solidFill>
                <a:latin typeface="Calibri" pitchFamily="34" charset="0"/>
                <a:ea typeface="Calibri" pitchFamily="34" charset="-122"/>
                <a:cs typeface="Calibri" pitchFamily="34" charset="-120"/>
              </a:rPr>
              <a:t>Key pages and interactions shown in the completed website:</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74552" cy="914400"/>
        </p:xfrm>
        <a:graphic>
          <a:graphicData uri="http://schemas.openxmlformats.org/drawingml/2006/table">
            <a:tbl>
              <a:tblPr/>
              <a:tblGrid>
                <a:gridCol w="3200400"/>
                <a:gridCol w="7772400"/>
              </a:tblGrid>
              <a:tr h="457200">
                <a:tc>
                  <a:txBody>
                    <a:bodyPr/>
                    <a:lstStyle/>
                    <a:p>
                      <a:pPr indent="0" marL="0">
                        <a:buNone/>
                      </a:pPr>
                      <a:r>
                        <a:rPr lang="en-US" sz="1400" b="1" dirty="0">
                          <a:solidFill>
                            <a:srgbClr val="4A2C2A"/>
                          </a:solidFill>
                          <a:latin typeface="Calibri" pitchFamily="34" charset="0"/>
                          <a:ea typeface="Calibri" pitchFamily="34" charset="-122"/>
                          <a:cs typeface="Calibri" pitchFamily="34" charset="-120"/>
                        </a:rPr>
                        <a:t>Page / Feature</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2E8DC"/>
                    </a:solidFill>
                  </a:tcPr>
                </a:tc>
                <a:tc>
                  <a:txBody>
                    <a:bodyPr/>
                    <a:lstStyle/>
                    <a:p>
                      <a:pPr indent="0" marL="0">
                        <a:buNone/>
                      </a:pPr>
                      <a:r>
                        <a:rPr lang="en-US" sz="1400" b="1" dirty="0">
                          <a:solidFill>
                            <a:srgbClr val="4A2C2A"/>
                          </a:solidFill>
                          <a:latin typeface="Calibri" pitchFamily="34" charset="0"/>
                          <a:ea typeface="Calibri" pitchFamily="34" charset="-122"/>
                          <a:cs typeface="Calibri" pitchFamily="34" charset="-120"/>
                        </a:rPr>
                        <a:t>What to show</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2E8DC"/>
                    </a:solidFill>
                  </a:tcPr>
                </a:tc>
              </a:tr>
              <a:tr h="502920">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Home</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Hero headline, featured categories and CTAs.</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Navigation</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Sticky header with working links on desktop and mobile.</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Products / Services</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Four product cards and the 3-step order process.</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Contact / Enquiry</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Contact details plus validated enquiry form.</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Mobile view</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Hamburger menu and responsive layout.</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4297680"/>
            <a:ext cx="11274552" cy="914400"/>
          </a:xfrm>
          <a:prstGeom prst="roundRect">
            <a:avLst/>
          </a:prstGeom>
          <a:solidFill>
            <a:srgbClr val="F2E8DC"/>
          </a:solidFill>
          <a:ln/>
        </p:spPr>
      </p:sp>
      <p:sp>
        <p:nvSpPr>
          <p:cNvPr id="7" name="Text 4"/>
          <p:cNvSpPr/>
          <p:nvPr/>
        </p:nvSpPr>
        <p:spPr>
          <a:xfrm>
            <a:off x="640080" y="4434840"/>
            <a:ext cx="10908792" cy="640080"/>
          </a:xfrm>
          <a:prstGeom prst="rect">
            <a:avLst/>
          </a:prstGeom>
          <a:noFill/>
          <a:ln/>
        </p:spPr>
        <p:txBody>
          <a:bodyPr wrap="square" rtlCol="0" anchor="ctr"/>
          <a:lstStyle/>
          <a:p>
            <a:pPr algn="ctr" indent="0" marL="0">
              <a:buNone/>
            </a:pPr>
            <a:r>
              <a:rPr lang="en-US" sz="1300" i="1" dirty="0">
                <a:solidFill>
                  <a:srgbClr val="7E7B72"/>
                </a:solidFill>
                <a:latin typeface="Calibri" pitchFamily="34" charset="0"/>
                <a:ea typeface="Calibri" pitchFamily="34" charset="-122"/>
                <a:cs typeface="Calibri" pitchFamily="34" charset="-120"/>
              </a:rPr>
              <a:t>Note: Actual screenshots from the live website should be inserted here during final presentation preparation.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8F0"/>
        </a:solidFill>
      </p:bgPr>
    </p:bg>
    <p:spTree>
      <p:nvGrpSpPr>
        <p:cNvPr id="1" name=""/>
        <p:cNvGrpSpPr/>
        <p:nvPr/>
      </p:nvGrpSpPr>
      <p:grpSpPr>
        <a:xfrm>
          <a:off x="0" y="0"/>
          <a:ext cx="0" cy="0"/>
          <a:chOff x="0" y="0"/>
          <a:chExt cx="0" cy="0"/>
        </a:xfrm>
      </p:grpSpPr>
      <p:sp>
        <p:nvSpPr>
          <p:cNvPr id="2" name="Shape 0"/>
          <p:cNvSpPr/>
          <p:nvPr/>
        </p:nvSpPr>
        <p:spPr>
          <a:xfrm>
            <a:off x="457200" y="457200"/>
            <a:ext cx="11274552" cy="73152"/>
          </a:xfrm>
          <a:prstGeom prst="rect">
            <a:avLst/>
          </a:prstGeom>
          <a:solidFill>
            <a:srgbClr val="C97B5D"/>
          </a:solidFill>
          <a:ln/>
        </p:spPr>
      </p:sp>
      <p:sp>
        <p:nvSpPr>
          <p:cNvPr id="3" name="Text 1"/>
          <p:cNvSpPr/>
          <p:nvPr/>
        </p:nvSpPr>
        <p:spPr>
          <a:xfrm>
            <a:off x="457200" y="228600"/>
            <a:ext cx="11274552" cy="640080"/>
          </a:xfrm>
          <a:prstGeom prst="rect">
            <a:avLst/>
          </a:prstGeom>
          <a:noFill/>
          <a:ln/>
        </p:spPr>
        <p:txBody>
          <a:bodyPr wrap="square" rtlCol="0" anchor="ctr"/>
          <a:lstStyle/>
          <a:p>
            <a:pPr indent="0" marL="0">
              <a:buNone/>
            </a:pPr>
            <a:r>
              <a:rPr lang="en-US" sz="3200" b="1" dirty="0">
                <a:solidFill>
                  <a:srgbClr val="4A2C2A"/>
                </a:solidFill>
                <a:latin typeface="Georgia" pitchFamily="34" charset="0"/>
                <a:ea typeface="Georgia" pitchFamily="34" charset="-122"/>
                <a:cs typeface="Georgia" pitchFamily="34" charset="-120"/>
              </a:rPr>
              <a:t>Design Decisions</a:t>
            </a:r>
            <a:endParaRPr lang="en-US" sz="3200" dirty="0"/>
          </a:p>
        </p:txBody>
      </p:sp>
      <p:sp>
        <p:nvSpPr>
          <p:cNvPr id="4" name="Shape 2"/>
          <p:cNvSpPr/>
          <p:nvPr/>
        </p:nvSpPr>
        <p:spPr>
          <a:xfrm>
            <a:off x="548640" y="1097280"/>
            <a:ext cx="320040" cy="320040"/>
          </a:xfrm>
          <a:prstGeom prst="ellipse">
            <a:avLst/>
          </a:prstGeom>
          <a:solidFill>
            <a:srgbClr val="C97B5D"/>
          </a:solidFill>
          <a:ln/>
        </p:spPr>
      </p:sp>
      <p:sp>
        <p:nvSpPr>
          <p:cNvPr id="5" name="Text 3"/>
          <p:cNvSpPr/>
          <p:nvPr/>
        </p:nvSpPr>
        <p:spPr>
          <a:xfrm>
            <a:off x="1005840" y="1051560"/>
            <a:ext cx="292608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Colour palette</a:t>
            </a:r>
            <a:endParaRPr lang="en-US" sz="1500" dirty="0"/>
          </a:p>
        </p:txBody>
      </p:sp>
      <p:sp>
        <p:nvSpPr>
          <p:cNvPr id="6" name="Text 4"/>
          <p:cNvSpPr/>
          <p:nvPr/>
        </p:nvSpPr>
        <p:spPr>
          <a:xfrm>
            <a:off x="4023360" y="1051560"/>
            <a:ext cx="761695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Warm cream, cocoa brown, terracotta accent and soft beige. Used consistently for backgrounds, text and CTAs.</a:t>
            </a:r>
            <a:endParaRPr lang="en-US" sz="1400" dirty="0"/>
          </a:p>
        </p:txBody>
      </p:sp>
      <p:sp>
        <p:nvSpPr>
          <p:cNvPr id="7" name="Shape 5"/>
          <p:cNvSpPr/>
          <p:nvPr/>
        </p:nvSpPr>
        <p:spPr>
          <a:xfrm>
            <a:off x="548640" y="1691640"/>
            <a:ext cx="320040" cy="320040"/>
          </a:xfrm>
          <a:prstGeom prst="ellipse">
            <a:avLst/>
          </a:prstGeom>
          <a:solidFill>
            <a:srgbClr val="C97B5D"/>
          </a:solidFill>
          <a:ln/>
        </p:spPr>
      </p:sp>
      <p:sp>
        <p:nvSpPr>
          <p:cNvPr id="8" name="Text 6"/>
          <p:cNvSpPr/>
          <p:nvPr/>
        </p:nvSpPr>
        <p:spPr>
          <a:xfrm>
            <a:off x="1005840" y="1645920"/>
            <a:ext cx="292608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Typography</a:t>
            </a:r>
            <a:endParaRPr lang="en-US" sz="1500" dirty="0"/>
          </a:p>
        </p:txBody>
      </p:sp>
      <p:sp>
        <p:nvSpPr>
          <p:cNvPr id="9" name="Text 7"/>
          <p:cNvSpPr/>
          <p:nvPr/>
        </p:nvSpPr>
        <p:spPr>
          <a:xfrm>
            <a:off x="4023360" y="1645920"/>
            <a:ext cx="761695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Georgia for headings and Calibri for body text. Strong readability and clear hierarchy.</a:t>
            </a:r>
            <a:endParaRPr lang="en-US" sz="1400" dirty="0"/>
          </a:p>
        </p:txBody>
      </p:sp>
      <p:sp>
        <p:nvSpPr>
          <p:cNvPr id="10" name="Shape 8"/>
          <p:cNvSpPr/>
          <p:nvPr/>
        </p:nvSpPr>
        <p:spPr>
          <a:xfrm>
            <a:off x="548640" y="2286000"/>
            <a:ext cx="320040" cy="320040"/>
          </a:xfrm>
          <a:prstGeom prst="ellipse">
            <a:avLst/>
          </a:prstGeom>
          <a:solidFill>
            <a:srgbClr val="C97B5D"/>
          </a:solidFill>
          <a:ln/>
        </p:spPr>
      </p:sp>
      <p:sp>
        <p:nvSpPr>
          <p:cNvPr id="11" name="Text 9"/>
          <p:cNvSpPr/>
          <p:nvPr/>
        </p:nvSpPr>
        <p:spPr>
          <a:xfrm>
            <a:off x="1005840" y="2240280"/>
            <a:ext cx="292608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Logo / branding</a:t>
            </a:r>
            <a:endParaRPr lang="en-US" sz="1500" dirty="0"/>
          </a:p>
        </p:txBody>
      </p:sp>
      <p:sp>
        <p:nvSpPr>
          <p:cNvPr id="12" name="Text 10"/>
          <p:cNvSpPr/>
          <p:nvPr/>
        </p:nvSpPr>
        <p:spPr>
          <a:xfrm>
            <a:off x="4023360" y="2240280"/>
            <a:ext cx="761695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Simple original SVG wordmark with a warm bakery-inspired mark. Repeated in header and footer.</a:t>
            </a:r>
            <a:endParaRPr lang="en-US" sz="1400" dirty="0"/>
          </a:p>
        </p:txBody>
      </p:sp>
      <p:sp>
        <p:nvSpPr>
          <p:cNvPr id="13" name="Shape 11"/>
          <p:cNvSpPr/>
          <p:nvPr/>
        </p:nvSpPr>
        <p:spPr>
          <a:xfrm>
            <a:off x="548640" y="2880360"/>
            <a:ext cx="320040" cy="320040"/>
          </a:xfrm>
          <a:prstGeom prst="ellipse">
            <a:avLst/>
          </a:prstGeom>
          <a:solidFill>
            <a:srgbClr val="C97B5D"/>
          </a:solidFill>
          <a:ln/>
        </p:spPr>
      </p:sp>
      <p:sp>
        <p:nvSpPr>
          <p:cNvPr id="14" name="Text 12"/>
          <p:cNvSpPr/>
          <p:nvPr/>
        </p:nvSpPr>
        <p:spPr>
          <a:xfrm>
            <a:off x="1005840" y="2834640"/>
            <a:ext cx="292608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Visual hierarchy</a:t>
            </a:r>
            <a:endParaRPr lang="en-US" sz="1500" dirty="0"/>
          </a:p>
        </p:txBody>
      </p:sp>
      <p:sp>
        <p:nvSpPr>
          <p:cNvPr id="15" name="Text 13"/>
          <p:cNvSpPr/>
          <p:nvPr/>
        </p:nvSpPr>
        <p:spPr>
          <a:xfrm>
            <a:off x="4023360" y="2834640"/>
            <a:ext cx="761695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Clear hero section, card-based product display and numbered process steps.</a:t>
            </a:r>
            <a:endParaRPr lang="en-US" sz="1400" dirty="0"/>
          </a:p>
        </p:txBody>
      </p:sp>
      <p:sp>
        <p:nvSpPr>
          <p:cNvPr id="16" name="Shape 14"/>
          <p:cNvSpPr/>
          <p:nvPr/>
        </p:nvSpPr>
        <p:spPr>
          <a:xfrm>
            <a:off x="548640" y="3474720"/>
            <a:ext cx="320040" cy="320040"/>
          </a:xfrm>
          <a:prstGeom prst="ellipse">
            <a:avLst/>
          </a:prstGeom>
          <a:solidFill>
            <a:srgbClr val="C97B5D"/>
          </a:solidFill>
          <a:ln/>
        </p:spPr>
      </p:sp>
      <p:sp>
        <p:nvSpPr>
          <p:cNvPr id="17" name="Text 15"/>
          <p:cNvSpPr/>
          <p:nvPr/>
        </p:nvSpPr>
        <p:spPr>
          <a:xfrm>
            <a:off x="1005840" y="3429000"/>
            <a:ext cx="292608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Responsive design</a:t>
            </a:r>
            <a:endParaRPr lang="en-US" sz="1500" dirty="0"/>
          </a:p>
        </p:txBody>
      </p:sp>
      <p:sp>
        <p:nvSpPr>
          <p:cNvPr id="18" name="Text 16"/>
          <p:cNvSpPr/>
          <p:nvPr/>
        </p:nvSpPr>
        <p:spPr>
          <a:xfrm>
            <a:off x="4023360" y="3429000"/>
            <a:ext cx="761695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Mobile-first breakpoints, hamburger menu and fluid grids for tablet and phone.</a:t>
            </a:r>
            <a:endParaRPr lang="en-US" sz="1400" dirty="0"/>
          </a:p>
        </p:txBody>
      </p:sp>
      <p:sp>
        <p:nvSpPr>
          <p:cNvPr id="19" name="Shape 17"/>
          <p:cNvSpPr/>
          <p:nvPr/>
        </p:nvSpPr>
        <p:spPr>
          <a:xfrm>
            <a:off x="548640" y="4069080"/>
            <a:ext cx="320040" cy="320040"/>
          </a:xfrm>
          <a:prstGeom prst="ellipse">
            <a:avLst/>
          </a:prstGeom>
          <a:solidFill>
            <a:srgbClr val="C97B5D"/>
          </a:solidFill>
          <a:ln/>
        </p:spPr>
      </p:sp>
      <p:sp>
        <p:nvSpPr>
          <p:cNvPr id="20" name="Text 18"/>
          <p:cNvSpPr/>
          <p:nvPr/>
        </p:nvSpPr>
        <p:spPr>
          <a:xfrm>
            <a:off x="1005840" y="4023360"/>
            <a:ext cx="292608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CTA placement</a:t>
            </a:r>
            <a:endParaRPr lang="en-US" sz="1500" dirty="0"/>
          </a:p>
        </p:txBody>
      </p:sp>
      <p:sp>
        <p:nvSpPr>
          <p:cNvPr id="21" name="Text 19"/>
          <p:cNvSpPr/>
          <p:nvPr/>
        </p:nvSpPr>
        <p:spPr>
          <a:xfrm>
            <a:off x="4023360" y="4023360"/>
            <a:ext cx="761695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Primary CTAs placed in hero, product cards and final sections to guide users toward enquiry.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F0"/>
        </a:solidFill>
      </p:bgPr>
    </p:bg>
    <p:spTree>
      <p:nvGrpSpPr>
        <p:cNvPr id="1" name=""/>
        <p:cNvGrpSpPr/>
        <p:nvPr/>
      </p:nvGrpSpPr>
      <p:grpSpPr>
        <a:xfrm>
          <a:off x="0" y="0"/>
          <a:ext cx="0" cy="0"/>
          <a:chOff x="0" y="0"/>
          <a:chExt cx="0" cy="0"/>
        </a:xfrm>
      </p:grpSpPr>
      <p:sp>
        <p:nvSpPr>
          <p:cNvPr id="2" name="Shape 0"/>
          <p:cNvSpPr/>
          <p:nvPr/>
        </p:nvSpPr>
        <p:spPr>
          <a:xfrm>
            <a:off x="457200" y="457200"/>
            <a:ext cx="11274552" cy="73152"/>
          </a:xfrm>
          <a:prstGeom prst="rect">
            <a:avLst/>
          </a:prstGeom>
          <a:solidFill>
            <a:srgbClr val="C97B5D"/>
          </a:solidFill>
          <a:ln/>
        </p:spPr>
      </p:sp>
      <p:sp>
        <p:nvSpPr>
          <p:cNvPr id="3" name="Text 1"/>
          <p:cNvSpPr/>
          <p:nvPr/>
        </p:nvSpPr>
        <p:spPr>
          <a:xfrm>
            <a:off x="457200" y="228600"/>
            <a:ext cx="11274552" cy="640080"/>
          </a:xfrm>
          <a:prstGeom prst="rect">
            <a:avLst/>
          </a:prstGeom>
          <a:noFill/>
          <a:ln/>
        </p:spPr>
        <p:txBody>
          <a:bodyPr wrap="square" rtlCol="0" anchor="ctr"/>
          <a:lstStyle/>
          <a:p>
            <a:pPr indent="0" marL="0">
              <a:buNone/>
            </a:pPr>
            <a:r>
              <a:rPr lang="en-US" sz="3200" b="1" dirty="0">
                <a:solidFill>
                  <a:srgbClr val="4A2C2A"/>
                </a:solidFill>
                <a:latin typeface="Georgia" pitchFamily="34" charset="0"/>
                <a:ea typeface="Georgia" pitchFamily="34" charset="-122"/>
                <a:cs typeface="Georgia" pitchFamily="34" charset="-120"/>
              </a:rPr>
              <a:t>Content Strategy &amp; POEM</a:t>
            </a:r>
            <a:endParaRPr lang="en-US" sz="3200" dirty="0"/>
          </a:p>
        </p:txBody>
      </p:sp>
      <p:sp>
        <p:nvSpPr>
          <p:cNvPr id="4" name="Text 2"/>
          <p:cNvSpPr/>
          <p:nvPr/>
        </p:nvSpPr>
        <p:spPr>
          <a:xfrm>
            <a:off x="457200" y="1005840"/>
            <a:ext cx="11274552" cy="457200"/>
          </a:xfrm>
          <a:prstGeom prst="rect">
            <a:avLst/>
          </a:prstGeom>
          <a:noFill/>
          <a:ln/>
        </p:spPr>
        <p:txBody>
          <a:bodyPr wrap="square" rtlCol="0" anchor="ctr"/>
          <a:lstStyle/>
          <a:p>
            <a:pPr indent="0" marL="0">
              <a:buNone/>
            </a:pPr>
            <a:r>
              <a:rPr lang="en-US" sz="2000" b="1" dirty="0">
                <a:solidFill>
                  <a:srgbClr val="C97B5D"/>
                </a:solidFill>
                <a:latin typeface="Georgia" pitchFamily="34" charset="0"/>
                <a:ea typeface="Georgia" pitchFamily="34" charset="-122"/>
                <a:cs typeface="Georgia" pitchFamily="34" charset="-120"/>
              </a:rPr>
              <a:t>Content Strategy</a:t>
            </a:r>
            <a:endParaRPr lang="en-US" sz="2000" dirty="0"/>
          </a:p>
        </p:txBody>
      </p:sp>
      <p:sp>
        <p:nvSpPr>
          <p:cNvPr id="5" name="Text 3"/>
          <p:cNvSpPr/>
          <p:nvPr/>
        </p:nvSpPr>
        <p:spPr>
          <a:xfrm>
            <a:off x="457200" y="1508760"/>
            <a:ext cx="11274552" cy="914400"/>
          </a:xfrm>
          <a:prstGeom prst="rect">
            <a:avLst/>
          </a:prstGeom>
          <a:noFill/>
          <a:ln/>
        </p:spPr>
        <p:txBody>
          <a:bodyPr wrap="square" rtlCol="0" anchor="ctr"/>
          <a:lstStyle/>
          <a:p>
            <a:pPr indent="0" marL="0">
              <a:buNone/>
            </a:pPr>
            <a:r>
              <a:rPr lang="en-US" sz="1500" dirty="0">
                <a:solidFill>
                  <a:srgbClr val="4A2C2A"/>
                </a:solidFill>
                <a:latin typeface="Calibri" pitchFamily="34" charset="0"/>
                <a:ea typeface="Calibri" pitchFamily="34" charset="-122"/>
                <a:cs typeface="Calibri" pitchFamily="34" charset="-120"/>
              </a:rPr>
              <a:t>Concise, customer-focused copy across all pages.
</a:t>
            </a:r>
            <a:endParaRPr lang="en-US" sz="1500" dirty="0"/>
          </a:p>
          <a:p>
            <a:pPr indent="0" marL="0">
              <a:buNone/>
            </a:pPr>
            <a:r>
              <a:rPr lang="en-US" sz="1500" dirty="0">
                <a:solidFill>
                  <a:srgbClr val="4A2C2A"/>
                </a:solidFill>
                <a:latin typeface="Calibri" pitchFamily="34" charset="0"/>
                <a:ea typeface="Calibri" pitchFamily="34" charset="-122"/>
                <a:cs typeface="Calibri" pitchFamily="34" charset="-120"/>
              </a:rPr>
              <a:t>Four core categories presented clearly.
</a:t>
            </a:r>
            <a:endParaRPr lang="en-US" sz="1500" dirty="0"/>
          </a:p>
          <a:p>
            <a:pPr indent="0" marL="0">
              <a:buNone/>
            </a:pPr>
            <a:r>
              <a:rPr lang="en-US" sz="1500" dirty="0">
                <a:solidFill>
                  <a:srgbClr val="4A2C2A"/>
                </a:solidFill>
                <a:latin typeface="Calibri" pitchFamily="34" charset="0"/>
                <a:ea typeface="Calibri" pitchFamily="34" charset="-122"/>
                <a:cs typeface="Calibri" pitchFamily="34" charset="-120"/>
              </a:rPr>
              <a:t>Warm brand tone with enquiry-oriented CTAs.</a:t>
            </a:r>
            <a:endParaRPr lang="en-US" sz="1500" dirty="0"/>
          </a:p>
        </p:txBody>
      </p:sp>
      <p:sp>
        <p:nvSpPr>
          <p:cNvPr id="6" name="Text 4"/>
          <p:cNvSpPr/>
          <p:nvPr/>
        </p:nvSpPr>
        <p:spPr>
          <a:xfrm>
            <a:off x="457200" y="2560320"/>
            <a:ext cx="11274552" cy="457200"/>
          </a:xfrm>
          <a:prstGeom prst="rect">
            <a:avLst/>
          </a:prstGeom>
          <a:noFill/>
          <a:ln/>
        </p:spPr>
        <p:txBody>
          <a:bodyPr wrap="square" rtlCol="0" anchor="ctr"/>
          <a:lstStyle/>
          <a:p>
            <a:pPr indent="0" marL="0">
              <a:buNone/>
            </a:pPr>
            <a:r>
              <a:rPr lang="en-US" sz="2000" b="1" dirty="0">
                <a:solidFill>
                  <a:srgbClr val="C97B5D"/>
                </a:solidFill>
                <a:latin typeface="Georgia" pitchFamily="34" charset="0"/>
                <a:ea typeface="Georgia" pitchFamily="34" charset="-122"/>
                <a:cs typeface="Georgia" pitchFamily="34" charset="-120"/>
              </a:rPr>
              <a:t>POEM Strategy</a:t>
            </a:r>
            <a:endParaRPr lang="en-US" sz="2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3063240"/>
          <a:ext cx="11274552" cy="914400"/>
        </p:xfrm>
        <a:graphic>
          <a:graphicData uri="http://schemas.openxmlformats.org/drawingml/2006/table">
            <a:tbl>
              <a:tblPr/>
              <a:tblGrid>
                <a:gridCol w="3749040"/>
                <a:gridCol w="3749040"/>
                <a:gridCol w="374904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Paid</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4A2C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Owned</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4A2C2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Earned</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4A2C2A"/>
                    </a:solidFill>
                  </a:tcPr>
                </a:tc>
              </a:tr>
              <a:tr h="914400">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Targeted social media ads for local celebration audiences.</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Website and social profiles with product visuals and enquiry CTAs.</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c>
                  <a:txBody>
                    <a:bodyPr/>
                    <a:lstStyle/>
                    <a:p>
                      <a:pPr indent="0" marL="0">
                        <a:buNone/>
                      </a:pPr>
                      <a:r>
                        <a:rPr lang="en-US" sz="1400" dirty="0">
                          <a:solidFill>
                            <a:srgbClr val="4A2C2A"/>
                          </a:solidFill>
                          <a:latin typeface="Calibri" pitchFamily="34" charset="0"/>
                          <a:ea typeface="Calibri" pitchFamily="34" charset="-122"/>
                          <a:cs typeface="Calibri" pitchFamily="34" charset="-120"/>
                        </a:rPr>
                        <a:t>Genuine reviews, recommendations and customer-shared celebration photos.</a:t>
                      </a:r>
                      <a:endParaRPr lang="en-US" sz="1400" dirty="0">
                        <a:latin typeface="Calibri" charset="0"/>
                        <a:ea typeface="Calibri" charset="0"/>
                        <a:cs typeface="Calibri" charset="0"/>
                      </a:endParaRPr>
                    </a:p>
                  </a:txBody>
                  <a:tcPr marL="91440" marR="91440" marT="45720" marB="45720">
                    <a:lnL w="6350" cap="flat" cmpd="sng" algn="ctr">
                      <a:solidFill>
                        <a:srgbClr val="7E7B72"/>
                      </a:solidFill>
                      <a:prstDash val="solid"/>
                      <a:round/>
                      <a:headEnd type="none" w="med" len="med"/>
                      <a:tailEnd type="none" w="med" len="med"/>
                    </a:lnL>
                    <a:lnR w="6350" cap="flat" cmpd="sng" algn="ctr">
                      <a:solidFill>
                        <a:srgbClr val="7E7B72"/>
                      </a:solidFill>
                      <a:prstDash val="solid"/>
                      <a:round/>
                      <a:headEnd type="none" w="med" len="med"/>
                      <a:tailEnd type="none" w="med" len="med"/>
                    </a:lnR>
                    <a:lnT w="6350" cap="flat" cmpd="sng" algn="ctr">
                      <a:solidFill>
                        <a:srgbClr val="7E7B72"/>
                      </a:solidFill>
                      <a:prstDash val="solid"/>
                      <a:round/>
                      <a:headEnd type="none" w="med" len="med"/>
                      <a:tailEnd type="none" w="med" len="med"/>
                    </a:lnT>
                    <a:lnB w="6350" cap="flat" cmpd="sng" algn="ctr">
                      <a:solidFill>
                        <a:srgbClr val="7E7B7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8F0"/>
        </a:solidFill>
      </p:bgPr>
    </p:bg>
    <p:spTree>
      <p:nvGrpSpPr>
        <p:cNvPr id="1" name=""/>
        <p:cNvGrpSpPr/>
        <p:nvPr/>
      </p:nvGrpSpPr>
      <p:grpSpPr>
        <a:xfrm>
          <a:off x="0" y="0"/>
          <a:ext cx="0" cy="0"/>
          <a:chOff x="0" y="0"/>
          <a:chExt cx="0" cy="0"/>
        </a:xfrm>
      </p:grpSpPr>
      <p:sp>
        <p:nvSpPr>
          <p:cNvPr id="2" name="Shape 0"/>
          <p:cNvSpPr/>
          <p:nvPr/>
        </p:nvSpPr>
        <p:spPr>
          <a:xfrm>
            <a:off x="457200" y="457200"/>
            <a:ext cx="11274552" cy="73152"/>
          </a:xfrm>
          <a:prstGeom prst="rect">
            <a:avLst/>
          </a:prstGeom>
          <a:solidFill>
            <a:srgbClr val="C97B5D"/>
          </a:solidFill>
          <a:ln/>
        </p:spPr>
      </p:sp>
      <p:sp>
        <p:nvSpPr>
          <p:cNvPr id="3" name="Text 1"/>
          <p:cNvSpPr/>
          <p:nvPr/>
        </p:nvSpPr>
        <p:spPr>
          <a:xfrm>
            <a:off x="457200" y="228600"/>
            <a:ext cx="11274552" cy="640080"/>
          </a:xfrm>
          <a:prstGeom prst="rect">
            <a:avLst/>
          </a:prstGeom>
          <a:noFill/>
          <a:ln/>
        </p:spPr>
        <p:txBody>
          <a:bodyPr wrap="square" rtlCol="0" anchor="ctr"/>
          <a:lstStyle/>
          <a:p>
            <a:pPr indent="0" marL="0">
              <a:buNone/>
            </a:pPr>
            <a:r>
              <a:rPr lang="en-US" sz="3200" b="1" dirty="0">
                <a:solidFill>
                  <a:srgbClr val="4A2C2A"/>
                </a:solidFill>
                <a:latin typeface="Georgia" pitchFamily="34" charset="0"/>
                <a:ea typeface="Georgia" pitchFamily="34" charset="-122"/>
                <a:cs typeface="Georgia" pitchFamily="34" charset="-120"/>
              </a:rPr>
              <a:t>SEO Considerations</a:t>
            </a:r>
            <a:endParaRPr lang="en-US" sz="3200" dirty="0"/>
          </a:p>
        </p:txBody>
      </p:sp>
      <p:sp>
        <p:nvSpPr>
          <p:cNvPr id="4" name="Shape 2"/>
          <p:cNvSpPr/>
          <p:nvPr/>
        </p:nvSpPr>
        <p:spPr>
          <a:xfrm>
            <a:off x="548640" y="1097280"/>
            <a:ext cx="320040" cy="320040"/>
          </a:xfrm>
          <a:prstGeom prst="ellipse">
            <a:avLst/>
          </a:prstGeom>
          <a:solidFill>
            <a:srgbClr val="C97B5D"/>
          </a:solidFill>
          <a:ln/>
        </p:spPr>
      </p:sp>
      <p:sp>
        <p:nvSpPr>
          <p:cNvPr id="5" name="Text 3"/>
          <p:cNvSpPr/>
          <p:nvPr/>
        </p:nvSpPr>
        <p:spPr>
          <a:xfrm>
            <a:off x="1005840" y="1051560"/>
            <a:ext cx="256032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Page titles</a:t>
            </a:r>
            <a:endParaRPr lang="en-US" sz="1500" dirty="0"/>
          </a:p>
        </p:txBody>
      </p:sp>
      <p:sp>
        <p:nvSpPr>
          <p:cNvPr id="6" name="Text 4"/>
          <p:cNvSpPr/>
          <p:nvPr/>
        </p:nvSpPr>
        <p:spPr>
          <a:xfrm>
            <a:off x="3657600" y="1051560"/>
            <a:ext cx="798271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Unique titles for each page, e.g., 'Aaranya Bakehouse | Custom Cakes &amp; Celebration Bakes'.</a:t>
            </a:r>
            <a:endParaRPr lang="en-US" sz="1400" dirty="0"/>
          </a:p>
        </p:txBody>
      </p:sp>
      <p:sp>
        <p:nvSpPr>
          <p:cNvPr id="7" name="Shape 5"/>
          <p:cNvSpPr/>
          <p:nvPr/>
        </p:nvSpPr>
        <p:spPr>
          <a:xfrm>
            <a:off x="548640" y="1691640"/>
            <a:ext cx="320040" cy="320040"/>
          </a:xfrm>
          <a:prstGeom prst="ellipse">
            <a:avLst/>
          </a:prstGeom>
          <a:solidFill>
            <a:srgbClr val="C97B5D"/>
          </a:solidFill>
          <a:ln/>
        </p:spPr>
      </p:sp>
      <p:sp>
        <p:nvSpPr>
          <p:cNvPr id="8" name="Text 6"/>
          <p:cNvSpPr/>
          <p:nvPr/>
        </p:nvSpPr>
        <p:spPr>
          <a:xfrm>
            <a:off x="1005840" y="1645920"/>
            <a:ext cx="256032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Meta descriptions</a:t>
            </a:r>
            <a:endParaRPr lang="en-US" sz="1500" dirty="0"/>
          </a:p>
        </p:txBody>
      </p:sp>
      <p:sp>
        <p:nvSpPr>
          <p:cNvPr id="9" name="Text 7"/>
          <p:cNvSpPr/>
          <p:nvPr/>
        </p:nvSpPr>
        <p:spPr>
          <a:xfrm>
            <a:off x="3657600" y="1645920"/>
            <a:ext cx="798271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Concise descriptions summarising each page's purpose and offerings.</a:t>
            </a:r>
            <a:endParaRPr lang="en-US" sz="1400" dirty="0"/>
          </a:p>
        </p:txBody>
      </p:sp>
      <p:sp>
        <p:nvSpPr>
          <p:cNvPr id="10" name="Shape 8"/>
          <p:cNvSpPr/>
          <p:nvPr/>
        </p:nvSpPr>
        <p:spPr>
          <a:xfrm>
            <a:off x="548640" y="2286000"/>
            <a:ext cx="320040" cy="320040"/>
          </a:xfrm>
          <a:prstGeom prst="ellipse">
            <a:avLst/>
          </a:prstGeom>
          <a:solidFill>
            <a:srgbClr val="C97B5D"/>
          </a:solidFill>
          <a:ln/>
        </p:spPr>
      </p:sp>
      <p:sp>
        <p:nvSpPr>
          <p:cNvPr id="11" name="Text 9"/>
          <p:cNvSpPr/>
          <p:nvPr/>
        </p:nvSpPr>
        <p:spPr>
          <a:xfrm>
            <a:off x="1005840" y="2240280"/>
            <a:ext cx="256032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Headings</a:t>
            </a:r>
            <a:endParaRPr lang="en-US" sz="1500" dirty="0"/>
          </a:p>
        </p:txBody>
      </p:sp>
      <p:sp>
        <p:nvSpPr>
          <p:cNvPr id="12" name="Text 10"/>
          <p:cNvSpPr/>
          <p:nvPr/>
        </p:nvSpPr>
        <p:spPr>
          <a:xfrm>
            <a:off x="3657600" y="2240280"/>
            <a:ext cx="798271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One clear H1 per page with logical H2/H3 structure.</a:t>
            </a:r>
            <a:endParaRPr lang="en-US" sz="1400" dirty="0"/>
          </a:p>
        </p:txBody>
      </p:sp>
      <p:sp>
        <p:nvSpPr>
          <p:cNvPr id="13" name="Shape 11"/>
          <p:cNvSpPr/>
          <p:nvPr/>
        </p:nvSpPr>
        <p:spPr>
          <a:xfrm>
            <a:off x="548640" y="2880360"/>
            <a:ext cx="320040" cy="320040"/>
          </a:xfrm>
          <a:prstGeom prst="ellipse">
            <a:avLst/>
          </a:prstGeom>
          <a:solidFill>
            <a:srgbClr val="C97B5D"/>
          </a:solidFill>
          <a:ln/>
        </p:spPr>
      </p:sp>
      <p:sp>
        <p:nvSpPr>
          <p:cNvPr id="14" name="Text 12"/>
          <p:cNvSpPr/>
          <p:nvPr/>
        </p:nvSpPr>
        <p:spPr>
          <a:xfrm>
            <a:off x="1005840" y="2834640"/>
            <a:ext cx="256032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Keywords</a:t>
            </a:r>
            <a:endParaRPr lang="en-US" sz="1500" dirty="0"/>
          </a:p>
        </p:txBody>
      </p:sp>
      <p:sp>
        <p:nvSpPr>
          <p:cNvPr id="15" name="Text 13"/>
          <p:cNvSpPr/>
          <p:nvPr/>
        </p:nvSpPr>
        <p:spPr>
          <a:xfrm>
            <a:off x="3657600" y="2834640"/>
            <a:ext cx="798271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Natural use of target keywords: custom cakes, home bakery, cupcakes, dessert boxes, etc.</a:t>
            </a:r>
            <a:endParaRPr lang="en-US" sz="1400" dirty="0"/>
          </a:p>
        </p:txBody>
      </p:sp>
      <p:sp>
        <p:nvSpPr>
          <p:cNvPr id="16" name="Shape 14"/>
          <p:cNvSpPr/>
          <p:nvPr/>
        </p:nvSpPr>
        <p:spPr>
          <a:xfrm>
            <a:off x="548640" y="3474720"/>
            <a:ext cx="320040" cy="320040"/>
          </a:xfrm>
          <a:prstGeom prst="ellipse">
            <a:avLst/>
          </a:prstGeom>
          <a:solidFill>
            <a:srgbClr val="C97B5D"/>
          </a:solidFill>
          <a:ln/>
        </p:spPr>
      </p:sp>
      <p:sp>
        <p:nvSpPr>
          <p:cNvPr id="17" name="Text 15"/>
          <p:cNvSpPr/>
          <p:nvPr/>
        </p:nvSpPr>
        <p:spPr>
          <a:xfrm>
            <a:off x="1005840" y="3429000"/>
            <a:ext cx="256032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Internal links</a:t>
            </a:r>
            <a:endParaRPr lang="en-US" sz="1500" dirty="0"/>
          </a:p>
        </p:txBody>
      </p:sp>
      <p:sp>
        <p:nvSpPr>
          <p:cNvPr id="18" name="Text 16"/>
          <p:cNvSpPr/>
          <p:nvPr/>
        </p:nvSpPr>
        <p:spPr>
          <a:xfrm>
            <a:off x="3657600" y="3429000"/>
            <a:ext cx="798271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Descriptive navigation and CTA links across all pages.</a:t>
            </a:r>
            <a:endParaRPr lang="en-US" sz="1400" dirty="0"/>
          </a:p>
        </p:txBody>
      </p:sp>
      <p:sp>
        <p:nvSpPr>
          <p:cNvPr id="19" name="Shape 17"/>
          <p:cNvSpPr/>
          <p:nvPr/>
        </p:nvSpPr>
        <p:spPr>
          <a:xfrm>
            <a:off x="548640" y="4069080"/>
            <a:ext cx="320040" cy="320040"/>
          </a:xfrm>
          <a:prstGeom prst="ellipse">
            <a:avLst/>
          </a:prstGeom>
          <a:solidFill>
            <a:srgbClr val="C97B5D"/>
          </a:solidFill>
          <a:ln/>
        </p:spPr>
      </p:sp>
      <p:sp>
        <p:nvSpPr>
          <p:cNvPr id="20" name="Text 18"/>
          <p:cNvSpPr/>
          <p:nvPr/>
        </p:nvSpPr>
        <p:spPr>
          <a:xfrm>
            <a:off x="1005840" y="4023360"/>
            <a:ext cx="2560320" cy="411480"/>
          </a:xfrm>
          <a:prstGeom prst="rect">
            <a:avLst/>
          </a:prstGeom>
          <a:noFill/>
          <a:ln/>
        </p:spPr>
        <p:txBody>
          <a:bodyPr wrap="square" rtlCol="0" anchor="ctr"/>
          <a:lstStyle/>
          <a:p>
            <a:pPr indent="0" marL="0">
              <a:buNone/>
            </a:pPr>
            <a:r>
              <a:rPr lang="en-US" sz="1500" b="1" dirty="0">
                <a:solidFill>
                  <a:srgbClr val="4A2C2A"/>
                </a:solidFill>
                <a:latin typeface="Calibri" pitchFamily="34" charset="0"/>
                <a:ea typeface="Calibri" pitchFamily="34" charset="-122"/>
                <a:cs typeface="Calibri" pitchFamily="34" charset="-120"/>
              </a:rPr>
              <a:t>Alt text</a:t>
            </a:r>
            <a:endParaRPr lang="en-US" sz="1500" dirty="0"/>
          </a:p>
        </p:txBody>
      </p:sp>
      <p:sp>
        <p:nvSpPr>
          <p:cNvPr id="21" name="Text 19"/>
          <p:cNvSpPr/>
          <p:nvPr/>
        </p:nvSpPr>
        <p:spPr>
          <a:xfrm>
            <a:off x="3657600" y="4023360"/>
            <a:ext cx="7982712" cy="411480"/>
          </a:xfrm>
          <a:prstGeom prst="rect">
            <a:avLst/>
          </a:prstGeom>
          <a:noFill/>
          <a:ln/>
        </p:spPr>
        <p:txBody>
          <a:bodyPr wrap="square" rtlCol="0" anchor="ctr"/>
          <a:lstStyle/>
          <a:p>
            <a:pPr indent="0" marL="0">
              <a:buNone/>
            </a:pPr>
            <a:r>
              <a:rPr lang="en-US" sz="1400" dirty="0">
                <a:solidFill>
                  <a:srgbClr val="3E2723"/>
                </a:solidFill>
                <a:latin typeface="Calibri" pitchFamily="34" charset="0"/>
                <a:ea typeface="Calibri" pitchFamily="34" charset="-122"/>
                <a:cs typeface="Calibri" pitchFamily="34" charset="-120"/>
              </a:rPr>
              <a:t>Descriptive alt text for meaningful images and illustrations.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F0"/>
        </a:solidFill>
      </p:bgPr>
    </p:bg>
    <p:spTree>
      <p:nvGrpSpPr>
        <p:cNvPr id="1" name=""/>
        <p:cNvGrpSpPr/>
        <p:nvPr/>
      </p:nvGrpSpPr>
      <p:grpSpPr>
        <a:xfrm>
          <a:off x="0" y="0"/>
          <a:ext cx="0" cy="0"/>
          <a:chOff x="0" y="0"/>
          <a:chExt cx="0" cy="0"/>
        </a:xfrm>
      </p:grpSpPr>
      <p:sp>
        <p:nvSpPr>
          <p:cNvPr id="2" name="Shape 0"/>
          <p:cNvSpPr/>
          <p:nvPr/>
        </p:nvSpPr>
        <p:spPr>
          <a:xfrm>
            <a:off x="457200" y="457200"/>
            <a:ext cx="11274552" cy="73152"/>
          </a:xfrm>
          <a:prstGeom prst="rect">
            <a:avLst/>
          </a:prstGeom>
          <a:solidFill>
            <a:srgbClr val="C97B5D"/>
          </a:solidFill>
          <a:ln/>
        </p:spPr>
      </p:sp>
      <p:sp>
        <p:nvSpPr>
          <p:cNvPr id="3" name="Text 1"/>
          <p:cNvSpPr/>
          <p:nvPr/>
        </p:nvSpPr>
        <p:spPr>
          <a:xfrm>
            <a:off x="457200" y="228600"/>
            <a:ext cx="11274552" cy="640080"/>
          </a:xfrm>
          <a:prstGeom prst="rect">
            <a:avLst/>
          </a:prstGeom>
          <a:noFill/>
          <a:ln/>
        </p:spPr>
        <p:txBody>
          <a:bodyPr wrap="square" rtlCol="0" anchor="ctr"/>
          <a:lstStyle/>
          <a:p>
            <a:pPr indent="0" marL="0">
              <a:buNone/>
            </a:pPr>
            <a:r>
              <a:rPr lang="en-US" sz="3200" b="1" dirty="0">
                <a:solidFill>
                  <a:srgbClr val="4A2C2A"/>
                </a:solidFill>
                <a:latin typeface="Georgia" pitchFamily="34" charset="0"/>
                <a:ea typeface="Georgia" pitchFamily="34" charset="-122"/>
                <a:cs typeface="Georgia" pitchFamily="34" charset="-120"/>
              </a:rPr>
              <a:t>Future Improvements &amp; Learning</a:t>
            </a:r>
            <a:endParaRPr lang="en-US" sz="3200" dirty="0"/>
          </a:p>
        </p:txBody>
      </p:sp>
      <p:sp>
        <p:nvSpPr>
          <p:cNvPr id="4" name="Text 2"/>
          <p:cNvSpPr/>
          <p:nvPr/>
        </p:nvSpPr>
        <p:spPr>
          <a:xfrm>
            <a:off x="457200" y="1005840"/>
            <a:ext cx="11274552" cy="411480"/>
          </a:xfrm>
          <a:prstGeom prst="rect">
            <a:avLst/>
          </a:prstGeom>
          <a:noFill/>
          <a:ln/>
        </p:spPr>
        <p:txBody>
          <a:bodyPr wrap="square" rtlCol="0" anchor="ctr"/>
          <a:lstStyle/>
          <a:p>
            <a:pPr indent="0" marL="0">
              <a:buNone/>
            </a:pPr>
            <a:r>
              <a:rPr lang="en-US" sz="2000" b="1" dirty="0">
                <a:solidFill>
                  <a:srgbClr val="C97B5D"/>
                </a:solidFill>
                <a:latin typeface="Georgia" pitchFamily="34" charset="0"/>
                <a:ea typeface="Georgia" pitchFamily="34" charset="-122"/>
                <a:cs typeface="Georgia" pitchFamily="34" charset="-120"/>
              </a:rPr>
              <a:t>Future Improvements</a:t>
            </a:r>
            <a:endParaRPr lang="en-US" sz="2000" dirty="0"/>
          </a:p>
        </p:txBody>
      </p:sp>
      <p:sp>
        <p:nvSpPr>
          <p:cNvPr id="5" name="Text 3"/>
          <p:cNvSpPr/>
          <p:nvPr/>
        </p:nvSpPr>
        <p:spPr>
          <a:xfrm>
            <a:off x="457200" y="1463040"/>
            <a:ext cx="11274552" cy="1097280"/>
          </a:xfrm>
          <a:prstGeom prst="rect">
            <a:avLst/>
          </a:prstGeom>
          <a:noFill/>
          <a:ln/>
        </p:spPr>
        <p:txBody>
          <a:bodyPr wrap="square" rtlCol="0" anchor="ctr"/>
          <a:lstStyle/>
          <a:p>
            <a:pPr indent="0" marL="0">
              <a:buNone/>
            </a:pPr>
            <a:r>
              <a:rPr lang="en-US" sz="1500" dirty="0">
                <a:solidFill>
                  <a:srgbClr val="4A2C2A"/>
                </a:solidFill>
                <a:latin typeface="Calibri" pitchFamily="34" charset="0"/>
                <a:ea typeface="Calibri" pitchFamily="34" charset="-122"/>
                <a:cs typeface="Calibri" pitchFamily="34" charset="-120"/>
              </a:rPr>
              <a:t>Add online ordering if demand grows.
</a:t>
            </a:r>
            <a:endParaRPr lang="en-US" sz="1500" dirty="0"/>
          </a:p>
          <a:p>
            <a:pPr indent="0" marL="0">
              <a:buNone/>
            </a:pPr>
            <a:r>
              <a:rPr lang="en-US" sz="1500" dirty="0">
                <a:solidFill>
                  <a:srgbClr val="4A2C2A"/>
                </a:solidFill>
                <a:latin typeface="Calibri" pitchFamily="34" charset="0"/>
                <a:ea typeface="Calibri" pitchFamily="34" charset="-122"/>
                <a:cs typeface="Calibri" pitchFamily="34" charset="-120"/>
              </a:rPr>
              <a:t>Expand customer review content as testimonials become available.
</a:t>
            </a:r>
            <a:endParaRPr lang="en-US" sz="1500" dirty="0"/>
          </a:p>
          <a:p>
            <a:pPr indent="0" marL="0">
              <a:buNone/>
            </a:pPr>
            <a:r>
              <a:rPr lang="en-US" sz="1500" dirty="0">
                <a:solidFill>
                  <a:srgbClr val="4A2C2A"/>
                </a:solidFill>
                <a:latin typeface="Calibri" pitchFamily="34" charset="0"/>
                <a:ea typeface="Calibri" pitchFamily="34" charset="-122"/>
                <a:cs typeface="Calibri" pitchFamily="34" charset="-120"/>
              </a:rPr>
              <a:t>Improve local SEO when a permanent service location is established.
</a:t>
            </a:r>
            <a:endParaRPr lang="en-US" sz="1500" dirty="0"/>
          </a:p>
          <a:p>
            <a:pPr indent="0" marL="0">
              <a:buNone/>
            </a:pPr>
            <a:r>
              <a:rPr lang="en-US" sz="1500" dirty="0">
                <a:solidFill>
                  <a:srgbClr val="4A2C2A"/>
                </a:solidFill>
                <a:latin typeface="Calibri" pitchFamily="34" charset="0"/>
                <a:ea typeface="Calibri" pitchFamily="34" charset="-122"/>
                <a:cs typeface="Calibri" pitchFamily="34" charset="-120"/>
              </a:rPr>
              <a:t>Use analytics to understand visitor behaviour.</a:t>
            </a:r>
            <a:endParaRPr lang="en-US" sz="1500" dirty="0"/>
          </a:p>
        </p:txBody>
      </p:sp>
      <p:sp>
        <p:nvSpPr>
          <p:cNvPr id="6" name="Text 4"/>
          <p:cNvSpPr/>
          <p:nvPr/>
        </p:nvSpPr>
        <p:spPr>
          <a:xfrm>
            <a:off x="457200" y="2651760"/>
            <a:ext cx="11274552" cy="411480"/>
          </a:xfrm>
          <a:prstGeom prst="rect">
            <a:avLst/>
          </a:prstGeom>
          <a:noFill/>
          <a:ln/>
        </p:spPr>
        <p:txBody>
          <a:bodyPr wrap="square" rtlCol="0" anchor="ctr"/>
          <a:lstStyle/>
          <a:p>
            <a:pPr indent="0" marL="0">
              <a:buNone/>
            </a:pPr>
            <a:r>
              <a:rPr lang="en-US" sz="2000" b="1" dirty="0">
                <a:solidFill>
                  <a:srgbClr val="C97B5D"/>
                </a:solidFill>
                <a:latin typeface="Georgia" pitchFamily="34" charset="0"/>
                <a:ea typeface="Georgia" pitchFamily="34" charset="-122"/>
                <a:cs typeface="Georgia" pitchFamily="34" charset="-120"/>
              </a:rPr>
              <a:t>Key Learning</a:t>
            </a:r>
            <a:endParaRPr lang="en-US" sz="2000" dirty="0"/>
          </a:p>
        </p:txBody>
      </p:sp>
      <p:sp>
        <p:nvSpPr>
          <p:cNvPr id="7" name="Text 5"/>
          <p:cNvSpPr/>
          <p:nvPr/>
        </p:nvSpPr>
        <p:spPr>
          <a:xfrm>
            <a:off x="457200" y="3108960"/>
            <a:ext cx="11274552" cy="1005840"/>
          </a:xfrm>
          <a:prstGeom prst="rect">
            <a:avLst/>
          </a:prstGeom>
          <a:noFill/>
          <a:ln/>
        </p:spPr>
        <p:txBody>
          <a:bodyPr wrap="square" rtlCol="0" anchor="ctr"/>
          <a:lstStyle/>
          <a:p>
            <a:pPr indent="0" marL="0">
              <a:buNone/>
            </a:pPr>
            <a:r>
              <a:rPr lang="en-US" sz="1500" dirty="0">
                <a:solidFill>
                  <a:srgbClr val="4A2C2A"/>
                </a:solidFill>
                <a:latin typeface="Calibri" pitchFamily="34" charset="0"/>
                <a:ea typeface="Calibri" pitchFamily="34" charset="-122"/>
                <a:cs typeface="Calibri" pitchFamily="34" charset="-120"/>
              </a:rPr>
              <a:t>I learned how to plan and build a small business website with responsive design, consistent branding, customer-focused content and basic SEO. The project also helped me understand how to structure a simple POEM-based digital marketing strategy around a clear enquiry journey.</a:t>
            </a:r>
            <a:endParaRPr lang="en-US" sz="1500" dirty="0"/>
          </a:p>
        </p:txBody>
      </p:sp>
      <p:sp>
        <p:nvSpPr>
          <p:cNvPr id="8" name="Shape 6"/>
          <p:cNvSpPr/>
          <p:nvPr/>
        </p:nvSpPr>
        <p:spPr>
          <a:xfrm>
            <a:off x="457200" y="4297680"/>
            <a:ext cx="11274552" cy="914400"/>
          </a:xfrm>
          <a:prstGeom prst="roundRect">
            <a:avLst/>
          </a:prstGeom>
          <a:solidFill>
            <a:srgbClr val="F2E8DC"/>
          </a:solidFill>
          <a:ln/>
          <a:effectLst>
            <a:outerShdw sx="100000" sy="100000" kx="0" ky="0" algn="bl" rotWithShape="0" blurRad="50800" dist="25400" dir="8100000">
              <a:srgbClr val="000000">
                <a:alpha val="10000"/>
              </a:srgbClr>
            </a:outerShdw>
          </a:effectLst>
        </p:spPr>
      </p:sp>
      <p:sp>
        <p:nvSpPr>
          <p:cNvPr id="9" name="Text 7"/>
          <p:cNvSpPr/>
          <p:nvPr/>
        </p:nvSpPr>
        <p:spPr>
          <a:xfrm>
            <a:off x="640080" y="4434840"/>
            <a:ext cx="10908792" cy="640080"/>
          </a:xfrm>
          <a:prstGeom prst="rect">
            <a:avLst/>
          </a:prstGeom>
          <a:noFill/>
          <a:ln/>
        </p:spPr>
        <p:txBody>
          <a:bodyPr wrap="square" rtlCol="0" anchor="ctr"/>
          <a:lstStyle/>
          <a:p>
            <a:pPr algn="ctr" indent="0" marL="0">
              <a:buNone/>
            </a:pPr>
            <a:r>
              <a:rPr lang="en-US" sz="2200" b="1" dirty="0">
                <a:solidFill>
                  <a:srgbClr val="4A2C2A"/>
                </a:solidFill>
                <a:latin typeface="Georgia" pitchFamily="34" charset="0"/>
                <a:ea typeface="Georgia" pitchFamily="34" charset="-122"/>
                <a:cs typeface="Georgia" pitchFamily="34" charset="-120"/>
              </a:rPr>
              <a:t>Thank you! Questions welcome.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Aaranya Bakehouse Website Project</dc:title>
  <dc:subject>PptxGenJS Presentation</dc:subject>
  <dc:creator>Himani Gupta</dc:creator>
  <cp:lastModifiedBy>Himani Gupta</cp:lastModifiedBy>
  <cp:revision>1</cp:revision>
  <dcterms:created xsi:type="dcterms:W3CDTF">2026-09-05T13:10:33Z</dcterms:created>
  <dcterms:modified xsi:type="dcterms:W3CDTF">2026-09-05T13:10:33Z</dcterms:modified>
</cp:coreProperties>
</file>