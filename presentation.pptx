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1 - 0:00 to 0:50]</a:t>
            </a:r>
          </a:p>
          <a:p>
            <a:r>
              <a:t>Good morning/afternoon, respected faculty and evaluators. Today, I am proud to present my end-to-end capstone project for Digital Innovation in Business, Course Code 2106.</a:t>
            </a:r>
          </a:p>
          <a:p/>
          <a:p>
            <a:r>
              <a:t>My project is titled 'Aaranya Bakehouse' — a fully realized digital storefront, marketing strategy, and technological blueprint designed for a modern artisanal home bakery. </a:t>
            </a:r>
          </a:p>
          <a:p/>
          <a:p>
            <a:r>
              <a:t>Throughout this 8 to 10 minute presentation, I will walk you through the real-world business foundation, target customer segmentation, live website demonstration, our strategic design decisions, content architecture, the POEM marketing matrix, SEO implementation, and future technological recommendations. The website is fully deployed and accessible live at harsh2715.github.io/aaranya-bakehouse. Let us begin with the business foundation.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2 - 0:50 to 1:45]</a:t>
            </a:r>
          </a:p>
          <a:p>
            <a:r>
              <a:t>Moving to our business foundation: what problem does Aaranya Bakehouse solve? </a:t>
            </a:r>
          </a:p>
          <a:p/>
          <a:p>
            <a:r>
              <a:t>When examining the urban bakery landscape, we observed a clear divide. On one hand, mass-market commercial bakeries mass-produce cakes using frozen sponge bases, hydrogenated vegetable fats, and artificial shelf-life extenders. On the other hand, boutique pastry shops often lack digital transparency, forcing customers to engage in endless back-and-forth messaging without knowing upfront costs.</a:t>
            </a:r>
          </a:p>
          <a:p/>
          <a:p>
            <a:r>
              <a:t>Aaranya Bakehouse bridges this gap. Our business model delivers three distinct pillars: first, culinary purity — using 100% pure dairy butter and premium Belgian chocolate with zero chemical additives. Second, an enquiry-based consultative ordering model that captures personalized theme, portion, and dietary needs. And third, a high-trust digital storefront that provides transparent starting prices, interactive cost estimations, and direct WhatsApp connectivity. This ensures customers experience personalized luxury with total digital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3 - 1:45 to 2:40]</a:t>
            </a:r>
          </a:p>
          <a:p>
            <a:r>
              <a:t>Understanding user psychology is central to Course 2106. We segmented our market into three core buyer personas, each mapping directly to distinct functional modules on our website.</a:t>
            </a:r>
          </a:p>
          <a:p/>
          <a:p>
            <a:r>
              <a:t>First, our primary persona is the 'Celebration Planner', represented by Priya, an urban millennial parent. When planning her child's first birthday, she values ingredient purity and custom aesthetic coordination. Our website converts Priya through transparent ingredient storytelling and an interactive price calculator.</a:t>
            </a:r>
          </a:p>
          <a:p/>
          <a:p>
            <a:r>
              <a:t>Second, our B2B persona is Vikram, a corporate manager seeking premium festive gifting boxes for team recognition. His pain points are reliability and unboxing elegance. He converts through our dedicated 'Curated Dessert Boxes' section and quick corporate enquiry links.</a:t>
            </a:r>
          </a:p>
          <a:p/>
          <a:p>
            <a:r>
              <a:t>Third, our digital-native persona is Aarav, a university student seeking trendy NYC-style stuffed molten cookies. He engages through our Instagram community gallery and our 10% discount lead magnet. By addressing all three personas, the website maximizes revenue opportunities across individual and corporate segments.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4 - 2:40 to 3:40]</a:t>
            </a:r>
          </a:p>
          <a:p>
            <a:r>
              <a:t>Here you see an actual live capture of our desktop homepage, deployed at harsh2715.github.io/aaranya-bakehouse.</a:t>
            </a:r>
          </a:p>
          <a:p/>
          <a:p>
            <a:r>
              <a:t>Notice how the information hierarchy is calibrated for immediate engagement. The split-hero combines an enticing visual of an artisan chocolate drip cake with concrete trust signals: 500+ celebrations served, 100% pure butter and cocoa, and a 4.9-star rating. </a:t>
            </a:r>
          </a:p>
          <a:p/>
          <a:p>
            <a:r>
              <a:t>Beneath the hero, visitors find our four signature categories with clear starting price tags, eliminating pricing anxiety. </a:t>
            </a:r>
          </a:p>
          <a:p/>
          <a:p>
            <a:r>
              <a:t>Crucially, we implemented an interactive client-side Custom Cake Price Estimator. Visitors can select their cake weight — from 0.5 kg up to 3 kg — choose their flavor profile, select single or stacked tiers, and receive an instant transparent price quote that pre-fills our enquiry form. This interactive module bridges casual curiosity with qualified lead capture.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5 - 3:40 to 4:35]</a:t>
            </a:r>
          </a:p>
          <a:p>
            <a:r>
              <a:t>On Slide 5, we demonstrate cross-device responsiveness and our product detail journey.</a:t>
            </a:r>
          </a:p>
          <a:p/>
          <a:p>
            <a:r>
              <a:t>With over 68% of food discovery happening on mobile devices, our website was built mobile-first. As shown on the left, the layout collapses smoothly to a single-column thumb-friendly flow. The hamburger menu offers clear touch targets, and a persistent floating WhatsApp widget enables immediate 1-click customer support.</a:t>
            </a:r>
          </a:p>
          <a:p/>
          <a:p>
            <a:r>
              <a:t>On our Products page, shown in the center, every category features detailed flavor specifications, box size configurations, and an interactive FAQ accordion. This accordion answers critical pre-purchase questions: minimum advance notice, eggless substitution techniques, and delivery packaging safety. This eliminates purchase hesitation and significantly reduces customer support overhead.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6 - 4:35 to 5:30]</a:t>
            </a:r>
          </a:p>
          <a:p>
            <a:r>
              <a:t>Turning to our branding and design decisions: visual aesthetics directly determine consumer trust in the culinary industry.</a:t>
            </a:r>
          </a:p>
          <a:p/>
          <a:p>
            <a:r>
              <a:t>Our color palette was chosen intentionally: Deep Cocoa brown anchors the brand in premium chocolate and grounding warmth, while Terracotta orange draws the eye to high-priority conversion actions. Soft Cream serves as the canvas, creating a warm, artisanal ambiance far superior to cold, clinical white.</a:t>
            </a:r>
          </a:p>
          <a:p/>
          <a:p>
            <a:r>
              <a:t>In typography, we paired 'Playfair Display' — a classic high-contrast serif font that communicates heritage and bespoke luxury — with 'Plus Jakarta Sans', an ultra-clean contemporary sans-serif for comfortable reading of ingredient lists and descriptions.</a:t>
            </a:r>
          </a:p>
          <a:p/>
          <a:p>
            <a:r>
              <a:t>From an accessibility standpoint, all color pairs meet WCAG AA contrast guidelines. Form elements feature visible focus rings, and semantic HTML5 tags ensure effortless screen reader compatibility.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7 - 5:30 to 6:25]</a:t>
            </a:r>
          </a:p>
          <a:p>
            <a:r>
              <a:t>Slide 7 covers our content strategy. High-converting digital copy does not rely on empty culinary buzzwords; it delivers tangible, sensory-rich substance.</a:t>
            </a:r>
          </a:p>
          <a:p/>
          <a:p>
            <a:r>
              <a:t>We engineered a three-tier copywriting hierarchy. Tier 1 hooks emotional interest with celebration themes. Tier 2 delivers rational reassurance by naming our premium ingredients: 54.5% Callebaut chocolate, pure dairy butter, and real fruit compotes. Tier 3 drives low-friction action with transparent enquiry CTAs.</a:t>
            </a:r>
          </a:p>
          <a:p/>
          <a:p>
            <a:r>
              <a:t>Additionally, our About Us page features founder Himani Gupta's story and explicit kitchen hygiene protocols. In a post-pandemic environment, showing dedicated allergen prep stations, vegetarian segregation, and fresh-baked 12-hour turnaround builds authentic consumer trust, elevating website visitors into confident buyers.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8 - 6:25 to 7:20]</a:t>
            </a:r>
          </a:p>
          <a:p>
            <a:r>
              <a:t>Our digital marketing architecture applies the POEM framework — Paid, Owned, and Earned media — taught in Course 2106.</a:t>
            </a:r>
          </a:p>
          <a:p/>
          <a:p>
            <a:r>
              <a:t>Our Owned media is the anchor: this responsive website, our Instagram handle @aaranyabakehouse, and our VIP email subscriber list. By capturing customer emails with a 10% discount lead magnet, we build an owned audience independent of social media algorithm changes.</a:t>
            </a:r>
          </a:p>
          <a:p/>
          <a:p>
            <a:r>
              <a:t>Paid media acts as a targeted catalyst: we utilize hyper-local Instagram reels and Google Search ads restricted to a 10-kilometer radius around our bakery studio, keeping acquisition costs below 180 rupees per lead.</a:t>
            </a:r>
          </a:p>
          <a:p/>
          <a:p>
            <a:r>
              <a:t>Finally, Earned media is our highest-converting channel. In celebration baking, the cake is literally the centerpiece of the event. When guests taste the cake and see our branded ribbon packaging, they post photos tagging #AaranyaCelebrations. This generates an organic viral referral loop where every single celebration generates future inbound orders.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9 - 7:20 to 8:15]</a:t>
            </a:r>
          </a:p>
          <a:p>
            <a:r>
              <a:t>Slide 9 outlines our on-page and technical SEO architecture. </a:t>
            </a:r>
          </a:p>
          <a:p/>
          <a:p>
            <a:r>
              <a:t>Search engines look for clear intent mapping. We conducted keyword research and mapped specific phrases across our site: transactional queries like 'custom cakes near me' are anchored in our home page H1 and meta tags; high-volume queries like 'NYC stuffed gourmet cookies' are mapped to product section anchors.</a:t>
            </a:r>
          </a:p>
          <a:p/>
          <a:p>
            <a:r>
              <a:t>On the technical side, we implemented Schema.org structured data using the 'Bakery' entity. This enables Google to parse our business address, operating hours, and price range, boosting our chances of appearing in the coveted Local 3-Pack on Google Maps.</a:t>
            </a:r>
          </a:p>
          <a:p/>
          <a:p>
            <a:r>
              <a:t>Furthermore, Open Graph tags ensure that whenever a customer shares our link on WhatsApp or Facebook, a rich card with our hero cake image and value proposition appears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10 - 8:15 to 9:05]</a:t>
            </a:r>
          </a:p>
          <a:p>
            <a:r>
              <a:t>Digital innovation is an ongoing iterative process. On Slide 10, we present our strategic 90-day implementation roadmap to scale Aaranya Bakehouse from an initial pilot to commercial scalability.</a:t>
            </a:r>
          </a:p>
          <a:p/>
          <a:p>
            <a:r>
              <a:t>In Phase 1, the first 30 days focus on local discovery and telemetry: verifying our Google Business Profile and installing GA4 and Meta tracking pixels to analyze user interaction data on our pricing calculator.</a:t>
            </a:r>
          </a:p>
          <a:p/>
          <a:p>
            <a:r>
              <a:t>In Phase 2, between Days 31 and 60, we implement conversational commerce. By integrating the WhatsApp Business Cloud API, an automated bot will answer routine inquiries, check baking date availability, and dispatch instant UPI payment links, slashing manual consultation time by 65%.</a:t>
            </a:r>
          </a:p>
          <a:p/>
          <a:p>
            <a:r>
              <a:t>In Phase 3, between Days 61 and 90, we introduce recurring revenue through a Monthly Cookie Club subscription and an automated 'Celebration Reminder Service' that prompts customers two weeks before their anniversary with a 1-click re-order option.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11 - 9:05 to 9:45]</a:t>
            </a:r>
          </a:p>
          <a:p>
            <a:r>
              <a:t>In conclusion, developing the Aaranya Bakehouse project provided deep practical synthesis across the entire Digital Innovation in Business curriculum.</a:t>
            </a:r>
          </a:p>
          <a:p/>
          <a:p>
            <a:r>
              <a:t>The greatest insight gained was that digital innovation is not about adding technical complexity for its own sake; it is about reducing customer friction. By aligning responsive design, transparent pricing tools, structured SEO schema, and a multi-channel POEM framework, we created a viable, resilient digital venture.</a:t>
            </a:r>
          </a:p>
          <a:p/>
          <a:p>
            <a:r>
              <a:t>All deliverables — our live website, our 3-page academic report, and our presentation deck — are fully verified and ready for review. Thank you very much for your time and guidance, and I now welcome any questions or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A2321"/>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114800" y="1097280"/>
            <a:ext cx="3962095" cy="411480"/>
          </a:xfrm>
          <a:prstGeom prst="roundRect">
            <a:avLst/>
          </a:prstGeom>
          <a:solidFill>
            <a:srgbClr val="4A2D2A"/>
          </a:solidFill>
          <a:ln>
            <a:solidFill>
              <a:srgbClr val="D4A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4A373"/>
                </a:solidFill>
                <a:latin typeface="Calibri"/>
              </a:defRPr>
            </a:pPr>
            <a:r>
              <a:t>COURSE CODE: 2106 • FINAL PROJECT</a:t>
            </a:r>
          </a:p>
        </p:txBody>
      </p:sp>
      <p:sp>
        <p:nvSpPr>
          <p:cNvPr id="4" name="TextBox 3"/>
          <p:cNvSpPr txBox="1"/>
          <p:nvPr/>
        </p:nvSpPr>
        <p:spPr>
          <a:xfrm>
            <a:off x="914400" y="1737360"/>
            <a:ext cx="10362895" cy="1188720"/>
          </a:xfrm>
          <a:prstGeom prst="rect">
            <a:avLst/>
          </a:prstGeom>
          <a:noFill/>
        </p:spPr>
        <p:txBody>
          <a:bodyPr wrap="square">
            <a:spAutoFit/>
          </a:bodyPr>
          <a:lstStyle/>
          <a:p>
            <a:pPr algn="ctr">
              <a:defRPr sz="4400" b="1">
                <a:solidFill>
                  <a:srgbClr val="FFFFFF"/>
                </a:solidFill>
                <a:latin typeface="Georgia"/>
              </a:defRPr>
            </a:pPr>
            <a:r>
              <a:t>Aaranya Bakehouse</a:t>
            </a:r>
          </a:p>
        </p:txBody>
      </p:sp>
      <p:sp>
        <p:nvSpPr>
          <p:cNvPr id="5" name="TextBox 4"/>
          <p:cNvSpPr txBox="1"/>
          <p:nvPr/>
        </p:nvSpPr>
        <p:spPr>
          <a:xfrm>
            <a:off x="1371600" y="2834640"/>
            <a:ext cx="9448495" cy="731520"/>
          </a:xfrm>
          <a:prstGeom prst="rect">
            <a:avLst/>
          </a:prstGeom>
          <a:noFill/>
        </p:spPr>
        <p:txBody>
          <a:bodyPr wrap="square">
            <a:spAutoFit/>
          </a:bodyPr>
          <a:lstStyle/>
          <a:p>
            <a:pPr algn="ctr">
              <a:defRPr sz="1800">
                <a:solidFill>
                  <a:srgbClr val="D4A373"/>
                </a:solidFill>
                <a:latin typeface="Georgia"/>
              </a:defRPr>
            </a:pPr>
            <a:r>
              <a:t>Digital Innovation in Business: End-to-End E-Commerce Strategy &amp; Web Platform</a:t>
            </a:r>
          </a:p>
        </p:txBody>
      </p:sp>
      <p:sp>
        <p:nvSpPr>
          <p:cNvPr id="6" name="Rounded Rectangle 5"/>
          <p:cNvSpPr/>
          <p:nvPr/>
        </p:nvSpPr>
        <p:spPr>
          <a:xfrm>
            <a:off x="2743200" y="3840480"/>
            <a:ext cx="6705295" cy="2011680"/>
          </a:xfrm>
          <a:prstGeom prst="roundRect">
            <a:avLst/>
          </a:prstGeom>
          <a:solidFill>
            <a:srgbClr val="4A2D2A"/>
          </a:solidFill>
          <a:ln>
            <a:solidFill>
              <a:srgbClr val="64413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Student Name: Himani Gupta   |   Roll No.: PGON26108</a:t>
            </a:r>
          </a:p>
          <a:p>
            <a:pPr algn="ctr">
              <a:defRPr sz="1200">
                <a:solidFill>
                  <a:srgbClr val="D2C3BE"/>
                </a:solidFill>
                <a:latin typeface="Calibri"/>
              </a:defRPr>
            </a:pPr>
            <a:r>
              <a:t>Academic Course: Digital Innovation in Business (2106)</a:t>
            </a:r>
          </a:p>
          <a:p>
            <a:pPr algn="ctr">
              <a:defRPr sz="1200" b="1">
                <a:solidFill>
                  <a:srgbClr val="D4A373"/>
                </a:solidFill>
                <a:latin typeface="Calibri"/>
              </a:defRPr>
            </a:pPr>
            <a:r>
              <a:t>Live Website URL: https://harsh2715.github.io/aaranya-bakehouse/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BUSINESS FOUNDATION</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The Business Opportunity &amp; Value Proposition</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512064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C26343"/>
                </a:solidFill>
                <a:latin typeface="Georgia"/>
              </a:defRPr>
            </a:pPr>
            <a:r>
              <a:t>THE MARKET PROBLEM</a:t>
            </a:r>
          </a:p>
          <a:p>
            <a:pPr>
              <a:defRPr sz="1100">
                <a:solidFill>
                  <a:srgbClr val="2D2422"/>
                </a:solidFill>
              </a:defRPr>
            </a:pPr>
            <a:r>
              <a:t>• Mass Commercialization: Commercial bakeries rely on artificial cake premixes, chemical preservatives, and vegetable shortening to cut costs.</a:t>
            </a:r>
          </a:p>
          <a:p>
            <a:pPr>
              <a:defRPr sz="1100">
                <a:solidFill>
                  <a:srgbClr val="2D2422"/>
                </a:solidFill>
              </a:defRPr>
            </a:pPr>
            <a:r>
              <a:t>• Impersonal Buying Experience: Standard supermarket checkouts do not accommodate custom celebration themes, portion sizing, or personalized flavours.</a:t>
            </a:r>
          </a:p>
          <a:p>
            <a:pPr>
              <a:defRPr sz="1100">
                <a:solidFill>
                  <a:srgbClr val="2D2422"/>
                </a:solidFill>
              </a:defRPr>
            </a:pPr>
            <a:r>
              <a:t>• Dietary &amp; Allergen Inflexibility: High friction when ordering reliable 100% vegetarian (eggless) or clean-label pastry options without cross-contamination.</a:t>
            </a:r>
          </a:p>
        </p:txBody>
      </p:sp>
      <p:sp>
        <p:nvSpPr>
          <p:cNvPr id="6" name="Rounded Rectangle 5"/>
          <p:cNvSpPr/>
          <p:nvPr/>
        </p:nvSpPr>
        <p:spPr>
          <a:xfrm>
            <a:off x="6217920" y="1691640"/>
            <a:ext cx="5212080" cy="4480560"/>
          </a:xfrm>
          <a:prstGeom prst="roundRect">
            <a:avLst/>
          </a:prstGeom>
          <a:solidFill>
            <a:srgbClr val="FFFFFF"/>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A2321"/>
                </a:solidFill>
                <a:latin typeface="Georgia"/>
              </a:defRPr>
            </a:pPr>
            <a:r>
              <a:t>THE AARANYA BAKEHOUSE SOLUTION</a:t>
            </a:r>
          </a:p>
          <a:p>
            <a:pPr>
              <a:defRPr sz="1100">
                <a:solidFill>
                  <a:srgbClr val="2D2422"/>
                </a:solidFill>
              </a:defRPr>
            </a:pPr>
            <a:r>
              <a:t>• Uncompromising Culinary Purity: 100% pure dairy butter, 54.5% Callebaut Belgian chocolate, Madagascar vanilla, zero artificial shortening.</a:t>
            </a:r>
          </a:p>
          <a:p>
            <a:pPr>
              <a:defRPr sz="1100">
                <a:solidFill>
                  <a:srgbClr val="2D2422"/>
                </a:solidFill>
              </a:defRPr>
            </a:pPr>
            <a:r>
              <a:t>• Consultative Enquiry Funnel: Rather than rigid impersonal cart checkout, customers engage through an interactive pricing calculator and direct WhatsApp bridge.</a:t>
            </a:r>
          </a:p>
          <a:p>
            <a:pPr>
              <a:defRPr sz="1100">
                <a:solidFill>
                  <a:srgbClr val="2D2422"/>
                </a:solidFill>
              </a:defRPr>
            </a:pPr>
            <a:r>
              <a:t>• Bespoke Celebration Craft: Every single sponge is baked strictly fresh to order within 12 hours of delivery, housed in eco-luxe biodegradable packaging.</a:t>
            </a:r>
          </a:p>
          <a:p>
            <a:pPr>
              <a:defRPr sz="1100" b="1">
                <a:solidFill>
                  <a:srgbClr val="C26343"/>
                </a:solidFill>
              </a:defRPr>
            </a:pPr>
            <a:r>
              <a:t>• High-Trust Digital Presence: Transparent pricing, client testimonials (4.9★), and guaranteed 2-hour response turnaround.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MARKET SEGMENTATION</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Target Audience &amp; Customer Personas</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429000" cy="4480560"/>
          </a:xfrm>
          <a:prstGeom prst="roundRect">
            <a:avLst/>
          </a:prstGeom>
          <a:solidFill>
            <a:srgbClr val="F6EFE6"/>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CELEBRATION PLANNER</a:t>
            </a:r>
          </a:p>
          <a:p>
            <a:pPr>
              <a:defRPr sz="1000" b="1">
                <a:solidFill>
                  <a:srgbClr val="3A2321"/>
                </a:solidFill>
              </a:defRPr>
            </a:pPr>
            <a:r>
              <a:t>Priya, 29 | Young Urban Parent</a:t>
            </a:r>
          </a:p>
          <a:p>
            <a:br/>
            <a:pPr>
              <a:defRPr sz="1000" b="1">
                <a:solidFill>
                  <a:srgbClr val="2D2422"/>
                </a:solidFill>
              </a:defRPr>
            </a:pPr>
            <a:r>
              <a:t>Needs &amp; Pain Points:</a:t>
            </a:r>
          </a:p>
          <a:p>
            <a:pPr>
              <a:defRPr sz="950">
                <a:solidFill>
                  <a:srgbClr val="6A5E5B"/>
                </a:solidFill>
              </a:defRPr>
            </a:pPr>
            <a:r>
              <a:t>Needs bespoke themed cakes for kids' birthdays and family milestones. Frustrated by generic dry commercial cakes and excessive sugar fondant.</a:t>
            </a:r>
          </a:p>
          <a:p>
            <a:br/>
            <a:pPr>
              <a:defRPr sz="1000" b="1">
                <a:solidFill>
                  <a:srgbClr val="C26343"/>
                </a:solidFill>
              </a:defRPr>
            </a:pPr>
            <a:r>
              <a:t>Website Conversion Trigger:</a:t>
            </a:r>
          </a:p>
          <a:p>
            <a:pPr>
              <a:defRPr sz="950">
                <a:solidFill>
                  <a:srgbClr val="2D2422"/>
                </a:solidFill>
              </a:defRPr>
            </a:pPr>
            <a:r>
              <a:t>Visual gallery, ingredient transparency (100% butter), instant cake pricing calculator.</a:t>
            </a:r>
          </a:p>
        </p:txBody>
      </p:sp>
      <p:sp>
        <p:nvSpPr>
          <p:cNvPr id="6" name="Rounded Rectangle 5"/>
          <p:cNvSpPr/>
          <p:nvPr/>
        </p:nvSpPr>
        <p:spPr>
          <a:xfrm>
            <a:off x="4389120" y="1691640"/>
            <a:ext cx="3429000" cy="4480560"/>
          </a:xfrm>
          <a:prstGeom prst="roundRect">
            <a:avLst/>
          </a:prstGeom>
          <a:solidFill>
            <a:srgbClr val="FFFFFF"/>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CORPORATE &amp; FESTIVE GIFTER</a:t>
            </a:r>
          </a:p>
          <a:p>
            <a:pPr>
              <a:defRPr sz="1000" b="1">
                <a:solidFill>
                  <a:srgbClr val="3A2321"/>
                </a:solidFill>
              </a:defRPr>
            </a:pPr>
            <a:r>
              <a:t>Vikram, 38 | Corporate Team Lead</a:t>
            </a:r>
          </a:p>
          <a:p>
            <a:br/>
            <a:pPr>
              <a:defRPr sz="1000" b="1">
                <a:solidFill>
                  <a:srgbClr val="2D2422"/>
                </a:solidFill>
              </a:defRPr>
            </a:pPr>
            <a:r>
              <a:t>Needs &amp; Pain Points:</a:t>
            </a:r>
          </a:p>
          <a:p>
            <a:pPr>
              <a:defRPr sz="950">
                <a:solidFill>
                  <a:srgbClr val="6A5E5B"/>
                </a:solidFill>
              </a:defRPr>
            </a:pPr>
            <a:r>
              <a:t>Requires premium festive hampers (Diwali, client appreciation). Needs reliable bulk scheduling, sophisticated packaging, and fast invoice turnaround.</a:t>
            </a:r>
          </a:p>
          <a:p>
            <a:br/>
            <a:pPr>
              <a:defRPr sz="1000" b="1">
                <a:solidFill>
                  <a:srgbClr val="C26343"/>
                </a:solidFill>
              </a:defRPr>
            </a:pPr>
            <a:r>
              <a:t>Website Conversion Trigger:</a:t>
            </a:r>
          </a:p>
          <a:p>
            <a:pPr>
              <a:defRPr sz="950">
                <a:solidFill>
                  <a:srgbClr val="2D2422"/>
                </a:solidFill>
              </a:defRPr>
            </a:pPr>
            <a:r>
              <a:t>Curated dessert boxes, corporate branded sleeves, rapid WhatsApp consultation.</a:t>
            </a:r>
          </a:p>
        </p:txBody>
      </p:sp>
      <p:sp>
        <p:nvSpPr>
          <p:cNvPr id="7" name="Rounded Rectangle 6"/>
          <p:cNvSpPr/>
          <p:nvPr/>
        </p:nvSpPr>
        <p:spPr>
          <a:xfrm>
            <a:off x="8046720" y="1691640"/>
            <a:ext cx="3429000" cy="4480560"/>
          </a:xfrm>
          <a:prstGeom prst="roundRect">
            <a:avLst/>
          </a:prstGeom>
          <a:solidFill>
            <a:srgbClr val="FFFFFF"/>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INDULGENCE ENTHUSIAST</a:t>
            </a:r>
          </a:p>
          <a:p>
            <a:pPr>
              <a:defRPr sz="1000" b="1">
                <a:solidFill>
                  <a:srgbClr val="3A2321"/>
                </a:solidFill>
              </a:defRPr>
            </a:pPr>
            <a:r>
              <a:t>Aarav, 22 | College Student &amp; Foodie</a:t>
            </a:r>
          </a:p>
          <a:p>
            <a:br/>
            <a:pPr>
              <a:defRPr sz="1000" b="1">
                <a:solidFill>
                  <a:srgbClr val="2D2422"/>
                </a:solidFill>
              </a:defRPr>
            </a:pPr>
            <a:r>
              <a:t>Needs &amp; Pain Points:</a:t>
            </a:r>
          </a:p>
          <a:p>
            <a:pPr>
              <a:defRPr sz="950">
                <a:solidFill>
                  <a:srgbClr val="6A5E5B"/>
                </a:solidFill>
              </a:defRPr>
            </a:pPr>
            <a:r>
              <a:t>Craves viral NYC-style molten stuffed cookies and gourmet cupcakes. Influenced heavily by Instagram aesthetics and unboxing experiences.</a:t>
            </a:r>
          </a:p>
          <a:p>
            <a:br/>
            <a:pPr>
              <a:defRPr sz="1000" b="1">
                <a:solidFill>
                  <a:srgbClr val="C26343"/>
                </a:solidFill>
              </a:defRPr>
            </a:pPr>
            <a:r>
              <a:t>Website Conversion Trigger:</a:t>
            </a:r>
          </a:p>
          <a:p>
            <a:pPr>
              <a:defRPr sz="950">
                <a:solidFill>
                  <a:srgbClr val="2D2422"/>
                </a:solidFill>
              </a:defRPr>
            </a:pPr>
            <a:r>
              <a:t>Instagram social wall (#AaranyaCelebrations), 10% first-order discount lead magnet.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WEBSITE DEMONSTRATION</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Live Website: Architecture &amp; Desktop Experience</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reenshot-home.png"/>
          <p:cNvPicPr>
            <a:picLocks noChangeAspect="1"/>
          </p:cNvPicPr>
          <p:nvPr/>
        </p:nvPicPr>
        <p:blipFill>
          <a:blip r:embed="rId2"/>
          <a:stretch>
            <a:fillRect/>
          </a:stretch>
        </p:blipFill>
        <p:spPr>
          <a:xfrm>
            <a:off x="731520" y="1691640"/>
            <a:ext cx="6583680" cy="4371975"/>
          </a:xfrm>
          <a:prstGeom prst="rect">
            <a:avLst/>
          </a:prstGeom>
        </p:spPr>
      </p:pic>
      <p:sp>
        <p:nvSpPr>
          <p:cNvPr id="6" name="Rounded Rectangle 5"/>
          <p:cNvSpPr/>
          <p:nvPr/>
        </p:nvSpPr>
        <p:spPr>
          <a:xfrm>
            <a:off x="7589520" y="1691640"/>
            <a:ext cx="384048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A2321"/>
                </a:solidFill>
                <a:latin typeface="Georgia"/>
              </a:defRPr>
            </a:pPr>
            <a:r>
              <a:t>KEY HOMEPAGE MODULES</a:t>
            </a:r>
          </a:p>
          <a:p>
            <a:pPr>
              <a:defRPr sz="950">
                <a:solidFill>
                  <a:srgbClr val="2D2422"/>
                </a:solidFill>
              </a:defRPr>
            </a:pPr>
            <a:r>
              <a:t>• Split Hero Section: Sensory chocolate drip cake imagery paired with social proof badges (500+ celebrations, 4.9★ rating).</a:t>
            </a:r>
          </a:p>
          <a:p>
            <a:pPr>
              <a:defRPr sz="950">
                <a:solidFill>
                  <a:srgbClr val="2D2422"/>
                </a:solidFill>
              </a:defRPr>
            </a:pPr>
            <a:r>
              <a:t>• Clear CTA Dual-Action: Direct path to 'Explore Menu' for browsers, and 'Custom Order Enquiry' for high-intent visitors.</a:t>
            </a:r>
          </a:p>
          <a:p>
            <a:pPr>
              <a:defRPr sz="950">
                <a:solidFill>
                  <a:srgbClr val="2D2422"/>
                </a:solidFill>
              </a:defRPr>
            </a:pPr>
            <a:r>
              <a:t>• 4 Core Product Cards: Custom Cakes, Artisan Cupcakes, NYC Cookies, and Dessert Hampers with starting prices.</a:t>
            </a:r>
          </a:p>
          <a:p>
            <a:pPr>
              <a:defRPr sz="950">
                <a:solidFill>
                  <a:srgbClr val="2D2422"/>
                </a:solidFill>
              </a:defRPr>
            </a:pPr>
            <a:r>
              <a:t>• Interactive Price Estimator: Real-time client-side JS calculator estimating price based on weight, flavor, and tiers.</a:t>
            </a:r>
          </a:p>
          <a:p>
            <a:pPr>
              <a:defRPr sz="950">
                <a:solidFill>
                  <a:srgbClr val="2D2422"/>
                </a:solidFill>
              </a:defRPr>
            </a:pPr>
            <a:r>
              <a:t>• Lead Magnet Integration: Newsletter subscription delivering a 10% promotional code directly upon signup.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WEBSITE DEMONSTRATION</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Mobile-First Responsiveness &amp; Interactive Enquiry</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2377440" cy="4663440"/>
          </a:xfrm>
          <a:prstGeom prst="round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reenshot-mobile.png"/>
          <p:cNvPicPr>
            <a:picLocks noChangeAspect="1"/>
          </p:cNvPicPr>
          <p:nvPr/>
        </p:nvPicPr>
        <p:blipFill>
          <a:blip r:embed="rId2"/>
          <a:stretch>
            <a:fillRect/>
          </a:stretch>
        </p:blipFill>
        <p:spPr>
          <a:xfrm>
            <a:off x="731520" y="1737360"/>
            <a:ext cx="2194560" cy="4749253"/>
          </a:xfrm>
          <a:prstGeom prst="rect">
            <a:avLst/>
          </a:prstGeom>
        </p:spPr>
      </p:pic>
      <p:pic>
        <p:nvPicPr>
          <p:cNvPr id="7" name="Picture 6" descr="screenshot-products.png"/>
          <p:cNvPicPr>
            <a:picLocks noChangeAspect="1"/>
          </p:cNvPicPr>
          <p:nvPr/>
        </p:nvPicPr>
        <p:blipFill>
          <a:blip r:embed="rId3"/>
          <a:stretch>
            <a:fillRect/>
          </a:stretch>
        </p:blipFill>
        <p:spPr>
          <a:xfrm>
            <a:off x="3291840" y="1691640"/>
            <a:ext cx="4754880" cy="3157538"/>
          </a:xfrm>
          <a:prstGeom prst="rect">
            <a:avLst/>
          </a:prstGeom>
        </p:spPr>
      </p:pic>
      <p:sp>
        <p:nvSpPr>
          <p:cNvPr id="8" name="Rounded Rectangle 7"/>
          <p:cNvSpPr/>
          <p:nvPr/>
        </p:nvSpPr>
        <p:spPr>
          <a:xfrm>
            <a:off x="8321040" y="1691640"/>
            <a:ext cx="3200400" cy="4572000"/>
          </a:xfrm>
          <a:prstGeom prst="roundRect">
            <a:avLst/>
          </a:prstGeom>
          <a:solidFill>
            <a:srgbClr val="F6EFE6"/>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C26343"/>
                </a:solidFill>
                <a:latin typeface="Georgia"/>
              </a:defRPr>
            </a:pPr>
            <a:r>
              <a:t>MOBILE UX &amp; INTERACTIVITY</a:t>
            </a:r>
          </a:p>
          <a:p>
            <a:br/>
            <a:pPr>
              <a:defRPr sz="950" b="1">
                <a:solidFill>
                  <a:srgbClr val="3A2321"/>
                </a:solidFill>
              </a:defRPr>
            </a:pPr>
            <a:r>
              <a:t>✔ Fluid Responsive Layout:</a:t>
            </a:r>
          </a:p>
          <a:p>
            <a:pPr>
              <a:defRPr sz="850">
                <a:solidFill>
                  <a:srgbClr val="2D2422"/>
                </a:solidFill>
              </a:defRPr>
            </a:pPr>
            <a:r>
              <a:t>CSS Grid and Flexbox dynamically adapt across viewports.</a:t>
            </a:r>
          </a:p>
          <a:p>
            <a:br/>
            <a:pPr>
              <a:defRPr sz="950" b="1">
                <a:solidFill>
                  <a:srgbClr val="3A2321"/>
                </a:solidFill>
              </a:defRPr>
            </a:pPr>
            <a:r>
              <a:t>✔ Collapsible Mobile Drawer:</a:t>
            </a:r>
          </a:p>
          <a:p>
            <a:pPr>
              <a:defRPr sz="850">
                <a:solidFill>
                  <a:srgbClr val="2D2422"/>
                </a:solidFill>
              </a:defRPr>
            </a:pPr>
            <a:r>
              <a:t>Touch-friendly hamburger navigation with prominent enquiry CTA.</a:t>
            </a:r>
          </a:p>
          <a:p>
            <a:br/>
            <a:pPr>
              <a:defRPr sz="950" b="1">
                <a:solidFill>
                  <a:srgbClr val="3A2321"/>
                </a:solidFill>
              </a:defRPr>
            </a:pPr>
            <a:r>
              <a:t>✔ Interactive FAQ Accordion:</a:t>
            </a:r>
          </a:p>
          <a:p>
            <a:pPr>
              <a:defRPr sz="850">
                <a:solidFill>
                  <a:srgbClr val="2D2422"/>
                </a:solidFill>
              </a:defRPr>
            </a:pPr>
            <a:r>
              <a:t>Addressing lead times, eggless options, and delivery logistics.</a:t>
            </a:r>
          </a:p>
          <a:p>
            <a:br/>
            <a:pPr>
              <a:defRPr sz="950" b="1">
                <a:solidFill>
                  <a:srgbClr val="3A2321"/>
                </a:solidFill>
              </a:defRPr>
            </a:pPr>
            <a:r>
              <a:t>✔ Real-Time Form Validation:</a:t>
            </a:r>
          </a:p>
          <a:p>
            <a:pPr>
              <a:defRPr sz="850">
                <a:solidFill>
                  <a:srgbClr val="2D2422"/>
                </a:solidFill>
              </a:defRPr>
            </a:pPr>
            <a:r>
              <a:t>Instant field validation preventing form submission errors.</a:t>
            </a:r>
          </a:p>
          <a:p>
            <a:br/>
            <a:pPr>
              <a:defRPr sz="950" b="1">
                <a:solidFill>
                  <a:srgbClr val="3A2321"/>
                </a:solidFill>
              </a:defRPr>
            </a:pPr>
            <a:r>
              <a:t>✔ WhatsApp Quick Bridge:</a:t>
            </a:r>
          </a:p>
          <a:p>
            <a:pPr>
              <a:defRPr sz="850">
                <a:solidFill>
                  <a:srgbClr val="2D2422"/>
                </a:solidFill>
              </a:defRPr>
            </a:pPr>
            <a:r>
              <a:t>Floating WhatsApp button with pre-filled enquiry parameters.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BRANDING &amp; CREATIVITY</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Design Decisions &amp; Visual Identity System</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42900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A2321"/>
                </a:solidFill>
                <a:latin typeface="Georgia"/>
              </a:defRPr>
            </a:pPr>
            <a:r>
              <a:t>COLOR PSYCHOLOGY</a:t>
            </a:r>
          </a:p>
          <a:p>
            <a:br/>
            <a:pPr>
              <a:defRPr sz="1000" b="1">
                <a:solidFill>
                  <a:srgbClr val="C26343"/>
                </a:solidFill>
              </a:defRPr>
            </a:pPr>
            <a:r>
              <a:t>• Artisan Cocoa (#3A2321):</a:t>
            </a:r>
          </a:p>
          <a:p>
            <a:pPr>
              <a:defRPr sz="900">
                <a:solidFill>
                  <a:srgbClr val="2D2422"/>
                </a:solidFill>
              </a:defRPr>
            </a:pPr>
            <a:r>
              <a:t>Deep organic brown representing chocolate, warmth, and culinary craftsmanship.</a:t>
            </a:r>
          </a:p>
          <a:p>
            <a:br/>
            <a:pPr>
              <a:defRPr sz="1000" b="1">
                <a:solidFill>
                  <a:srgbClr val="C26343"/>
                </a:solidFill>
              </a:defRPr>
            </a:pPr>
            <a:r>
              <a:t>• Warm Terracotta (#C26343):</a:t>
            </a:r>
          </a:p>
          <a:p>
            <a:pPr>
              <a:defRPr sz="900">
                <a:solidFill>
                  <a:srgbClr val="2D2422"/>
                </a:solidFill>
              </a:defRPr>
            </a:pPr>
            <a:r>
              <a:t>Earthy, energetic accent used for primary CTAs and hover states.</a:t>
            </a:r>
          </a:p>
          <a:p>
            <a:br/>
            <a:pPr>
              <a:defRPr sz="1000" b="1">
                <a:solidFill>
                  <a:srgbClr val="C26343"/>
                </a:solidFill>
              </a:defRPr>
            </a:pPr>
            <a:r>
              <a:t>• Warm Cream (#FFFDF9):</a:t>
            </a:r>
          </a:p>
          <a:p>
            <a:pPr>
              <a:defRPr sz="900">
                <a:solidFill>
                  <a:srgbClr val="2D2422"/>
                </a:solidFill>
              </a:defRPr>
            </a:pPr>
            <a:r>
              <a:t>Soft off-white background that reduces eye strain compared to harsh sterile white.</a:t>
            </a:r>
          </a:p>
          <a:p>
            <a:br/>
            <a:pPr>
              <a:defRPr sz="1000" b="1">
                <a:solidFill>
                  <a:srgbClr val="C26343"/>
                </a:solidFill>
              </a:defRPr>
            </a:pPr>
            <a:r>
              <a:t>• Artisan Gold (#D4A373):</a:t>
            </a:r>
          </a:p>
          <a:p>
            <a:pPr>
              <a:defRPr sz="900">
                <a:solidFill>
                  <a:srgbClr val="2D2422"/>
                </a:solidFill>
              </a:defRPr>
            </a:pPr>
            <a:r>
              <a:t>Subtle accent communicating premium gourmet confectionery quality.</a:t>
            </a:r>
          </a:p>
        </p:txBody>
      </p:sp>
      <p:sp>
        <p:nvSpPr>
          <p:cNvPr id="6" name="Rounded Rectangle 5"/>
          <p:cNvSpPr/>
          <p:nvPr/>
        </p:nvSpPr>
        <p:spPr>
          <a:xfrm>
            <a:off x="4389120" y="1691640"/>
            <a:ext cx="342900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A2321"/>
                </a:solidFill>
                <a:latin typeface="Georgia"/>
              </a:defRPr>
            </a:pPr>
            <a:r>
              <a:t>TYPOGRAPHY HIERARCHY</a:t>
            </a:r>
          </a:p>
          <a:p>
            <a:br/>
            <a:pPr>
              <a:defRPr sz="1000" b="1">
                <a:solidFill>
                  <a:srgbClr val="C26343"/>
                </a:solidFill>
              </a:defRPr>
            </a:pPr>
            <a:r>
              <a:t>• Playfair Display (Serif):</a:t>
            </a:r>
          </a:p>
          <a:p>
            <a:pPr>
              <a:defRPr sz="900">
                <a:solidFill>
                  <a:srgbClr val="2D2422"/>
                </a:solidFill>
              </a:defRPr>
            </a:pPr>
            <a:r>
              <a:t>Used for H1, H2 headings to evoke boutique Parisian pastry elegance and artisan craft.</a:t>
            </a:r>
          </a:p>
          <a:p>
            <a:br/>
            <a:pPr>
              <a:defRPr sz="1000" b="1">
                <a:solidFill>
                  <a:srgbClr val="C26343"/>
                </a:solidFill>
              </a:defRPr>
            </a:pPr>
            <a:r>
              <a:t>• Plus Jakarta Sans (Sans-Serif):</a:t>
            </a:r>
          </a:p>
          <a:p>
            <a:pPr>
              <a:defRPr sz="900">
                <a:solidFill>
                  <a:srgbClr val="2D2422"/>
                </a:solidFill>
              </a:defRPr>
            </a:pPr>
            <a:r>
              <a:t>Modern, geometric body font ensuring exceptional readability on high-DPI screens.</a:t>
            </a:r>
          </a:p>
          <a:p>
            <a:br/>
            <a:pPr>
              <a:defRPr sz="1000" b="1">
                <a:solidFill>
                  <a:srgbClr val="C26343"/>
                </a:solidFill>
              </a:defRPr>
            </a:pPr>
            <a:r>
              <a:t>• Scale &amp; Fluid Sizing:</a:t>
            </a:r>
          </a:p>
          <a:p>
            <a:pPr>
              <a:defRPr sz="900">
                <a:solidFill>
                  <a:srgbClr val="2D2422"/>
                </a:solidFill>
              </a:defRPr>
            </a:pPr>
            <a:r>
              <a:t>Utilized CSS clamp() functions so headings scale smoothly from desktop to mobile screens.</a:t>
            </a:r>
          </a:p>
        </p:txBody>
      </p:sp>
      <p:sp>
        <p:nvSpPr>
          <p:cNvPr id="7" name="Rounded Rectangle 6"/>
          <p:cNvSpPr/>
          <p:nvPr/>
        </p:nvSpPr>
        <p:spPr>
          <a:xfrm>
            <a:off x="8046720" y="1691640"/>
            <a:ext cx="342900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A2321"/>
                </a:solidFill>
                <a:latin typeface="Georgia"/>
              </a:defRPr>
            </a:pPr>
            <a:r>
              <a:t>UX &amp; ACCESSIBILITY</a:t>
            </a:r>
          </a:p>
          <a:p>
            <a:br/>
            <a:pPr>
              <a:defRPr sz="1000" b="1">
                <a:solidFill>
                  <a:srgbClr val="C26343"/>
                </a:solidFill>
              </a:defRPr>
            </a:pPr>
            <a:r>
              <a:t>• WCAG AA Contrast:</a:t>
            </a:r>
          </a:p>
          <a:p>
            <a:pPr>
              <a:defRPr sz="900">
                <a:solidFill>
                  <a:srgbClr val="2D2422"/>
                </a:solidFill>
              </a:defRPr>
            </a:pPr>
            <a:r>
              <a:t>All body copy and interactive buttons meet WCAG 2.1 AA 4.5:1 contrast standards.</a:t>
            </a:r>
          </a:p>
          <a:p>
            <a:br/>
            <a:pPr>
              <a:defRPr sz="1000" b="1">
                <a:solidFill>
                  <a:srgbClr val="C26343"/>
                </a:solidFill>
              </a:defRPr>
            </a:pPr>
            <a:r>
              <a:t>• Micro-Interactions:</a:t>
            </a:r>
          </a:p>
          <a:p>
            <a:pPr>
              <a:defRPr sz="900">
                <a:solidFill>
                  <a:srgbClr val="2D2422"/>
                </a:solidFill>
              </a:defRPr>
            </a:pPr>
            <a:r>
              <a:t>Smooth CSS transitions, card lift effects on hover, and focused border rings on form inputs.</a:t>
            </a:r>
          </a:p>
          <a:p>
            <a:br/>
            <a:pPr>
              <a:defRPr sz="1000" b="1">
                <a:solidFill>
                  <a:srgbClr val="C26343"/>
                </a:solidFill>
              </a:defRPr>
            </a:pPr>
            <a:r>
              <a:t>• Semantic HTML5:</a:t>
            </a:r>
          </a:p>
          <a:p>
            <a:pPr>
              <a:defRPr sz="900">
                <a:solidFill>
                  <a:srgbClr val="2D2422"/>
                </a:solidFill>
              </a:defRPr>
            </a:pPr>
            <a:r>
              <a:t>Clean semantic structure (&lt;header&gt;, &lt;main&gt;, &lt;article&gt;, &lt;nav&gt;, &lt;footer&gt;) for screen reader accessibility.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CONTENT STRATEGY</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Persuasive Copywriting &amp; Conversion Architecture</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5120640" cy="4480560"/>
          </a:xfrm>
          <a:prstGeom prst="roundRect">
            <a:avLst/>
          </a:prstGeom>
          <a:solidFill>
            <a:srgbClr val="FFFFFF"/>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3-TIER PERSUASIVE COPYWRITING</a:t>
            </a:r>
          </a:p>
          <a:p>
            <a:br/>
            <a:pPr>
              <a:defRPr sz="1050" b="1">
                <a:solidFill>
                  <a:srgbClr val="3A2321"/>
                </a:solidFill>
              </a:defRPr>
            </a:pPr>
            <a:r>
              <a:t>Tier 1: Sensory Hook (Headlines)</a:t>
            </a:r>
          </a:p>
          <a:p>
            <a:pPr>
              <a:defRPr sz="950">
                <a:solidFill>
                  <a:srgbClr val="2D2422"/>
                </a:solidFill>
              </a:defRPr>
            </a:pPr>
            <a:r>
              <a:t>Evocative language focused on indulgence, texture, and celebration: 'Artisanal Bakes Crafted for Your Special Moments'.</a:t>
            </a:r>
          </a:p>
          <a:p>
            <a:br/>
            <a:pPr>
              <a:defRPr sz="1050" b="1">
                <a:solidFill>
                  <a:srgbClr val="3A2321"/>
                </a:solidFill>
              </a:defRPr>
            </a:pPr>
            <a:r>
              <a:t>Tier 2: Rational Assurance (Body)</a:t>
            </a:r>
          </a:p>
          <a:p>
            <a:pPr>
              <a:defRPr sz="950">
                <a:solidFill>
                  <a:srgbClr val="2D2422"/>
                </a:solidFill>
              </a:defRPr>
            </a:pPr>
            <a:r>
              <a:t>Concrete ingredient validation: specifying '54.5% Callebaut Belgian chocolate', 'pure dairy butter', and 'slow-reduced berry coulis' rather than vague adjectives.</a:t>
            </a:r>
          </a:p>
          <a:p>
            <a:br/>
            <a:pPr>
              <a:defRPr sz="1050" b="1">
                <a:solidFill>
                  <a:srgbClr val="3A2321"/>
                </a:solidFill>
              </a:defRPr>
            </a:pPr>
            <a:r>
              <a:t>Tier 3: Low-Friction Call-to-Action</a:t>
            </a:r>
          </a:p>
          <a:p>
            <a:pPr>
              <a:defRPr sz="950">
                <a:solidFill>
                  <a:srgbClr val="2D2422"/>
                </a:solidFill>
              </a:defRPr>
            </a:pPr>
            <a:r>
              <a:t>Action-oriented CTAs aligned with intent: 'Enquire About a Cake', 'Book This Custom Cake', and 'Chat on WhatsApp'.</a:t>
            </a:r>
          </a:p>
        </p:txBody>
      </p:sp>
      <p:sp>
        <p:nvSpPr>
          <p:cNvPr id="6" name="Rounded Rectangle 5"/>
          <p:cNvSpPr/>
          <p:nvPr/>
        </p:nvSpPr>
        <p:spPr>
          <a:xfrm>
            <a:off x="6217920" y="1691640"/>
            <a:ext cx="521208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A2321"/>
                </a:solidFill>
                <a:latin typeface="Georgia"/>
              </a:defRPr>
            </a:pPr>
            <a:r>
              <a:t>AUTHENTICITY &amp; TRUST SIGNALS</a:t>
            </a:r>
          </a:p>
          <a:p>
            <a:br/>
            <a:pPr>
              <a:defRPr sz="1000" b="1">
                <a:solidFill>
                  <a:srgbClr val="C26343"/>
                </a:solidFill>
              </a:defRPr>
            </a:pPr>
            <a:r>
              <a:t>✔ Founder Story Integration:</a:t>
            </a:r>
          </a:p>
          <a:p>
            <a:pPr>
              <a:defRPr sz="900">
                <a:solidFill>
                  <a:srgbClr val="2D2422"/>
                </a:solidFill>
              </a:defRPr>
            </a:pPr>
            <a:r>
              <a:t>Humanizing the studio through founder Himani Gupta's vision, demonstrating passionate craftsmanship rather than faceless corporate production.</a:t>
            </a:r>
          </a:p>
          <a:p>
            <a:br/>
            <a:pPr>
              <a:defRPr sz="1000" b="1">
                <a:solidFill>
                  <a:srgbClr val="C26343"/>
                </a:solidFill>
              </a:defRPr>
            </a:pPr>
            <a:r>
              <a:t>✔ Kitchen Hygiene Transparency:</a:t>
            </a:r>
          </a:p>
          <a:p>
            <a:pPr>
              <a:defRPr sz="900">
                <a:solidFill>
                  <a:srgbClr val="2D2422"/>
                </a:solidFill>
              </a:defRPr>
            </a:pPr>
            <a:r>
              <a:t>Showcasing dedicated pastry prep stations, allergen segregation for 100% vegetarian orders, and temperature-controlled logistics.</a:t>
            </a:r>
          </a:p>
          <a:p>
            <a:br/>
            <a:pPr>
              <a:defRPr sz="1000" b="1">
                <a:solidFill>
                  <a:srgbClr val="C26343"/>
                </a:solidFill>
              </a:defRPr>
            </a:pPr>
            <a:r>
              <a:t>✔ Social Proof Testimonials:</a:t>
            </a:r>
          </a:p>
          <a:p>
            <a:pPr>
              <a:defRPr sz="900">
                <a:solidFill>
                  <a:srgbClr val="2D2422"/>
                </a:solidFill>
              </a:defRPr>
            </a:pPr>
            <a:r>
              <a:t>Featuring verified client reviews across children's birthdays, corporate gifting, and silver jubilee anniversaries.</a:t>
            </a:r>
          </a:p>
          <a:p>
            <a:br/>
            <a:pPr>
              <a:defRPr sz="1000" b="1">
                <a:solidFill>
                  <a:srgbClr val="C26343"/>
                </a:solidFill>
              </a:defRPr>
            </a:pPr>
            <a:r>
              <a:t>✔ Transparent Order Timeline:</a:t>
            </a:r>
          </a:p>
          <a:p>
            <a:pPr>
              <a:defRPr sz="900">
                <a:solidFill>
                  <a:srgbClr val="2D2422"/>
                </a:solidFill>
              </a:defRPr>
            </a:pPr>
            <a:r>
              <a:t>A 4-step visual roadmap from 'Enquiry &amp; Moodboard' to 'Slow Craft Baking' and 'Chilled Delivery' manages customer expectations.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DIGITAL MARKETING STRATEGY</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POEM Framework: Paid, Owned &amp; Earned Media</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42900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C26343"/>
                </a:solidFill>
                <a:latin typeface="Georgia"/>
              </a:defRPr>
            </a:pPr>
            <a:r>
              <a:t>PAID MEDIA (AMPLIFICATION)</a:t>
            </a:r>
          </a:p>
          <a:p>
            <a:br/>
            <a:pPr>
              <a:defRPr sz="1000" b="1">
                <a:solidFill>
                  <a:srgbClr val="3A2321"/>
                </a:solidFill>
              </a:defRPr>
            </a:pPr>
            <a:r>
              <a:t>• Hyper-Local Meta Ads:</a:t>
            </a:r>
          </a:p>
          <a:p>
            <a:pPr>
              <a:defRPr sz="900">
                <a:solidFill>
                  <a:srgbClr val="2D2422"/>
                </a:solidFill>
              </a:defRPr>
            </a:pPr>
            <a:r>
              <a:t>Geo-targeted carousel and reel ads targeting parents and event planners within a 10 km delivery radius.</a:t>
            </a:r>
          </a:p>
          <a:p>
            <a:br/>
            <a:pPr>
              <a:defRPr sz="1000" b="1">
                <a:solidFill>
                  <a:srgbClr val="3A2321"/>
                </a:solidFill>
              </a:defRPr>
            </a:pPr>
            <a:r>
              <a:t>• Local Google Search Ads:</a:t>
            </a:r>
          </a:p>
          <a:p>
            <a:pPr>
              <a:defRPr sz="900">
                <a:solidFill>
                  <a:srgbClr val="2D2422"/>
                </a:solidFill>
              </a:defRPr>
            </a:pPr>
            <a:r>
              <a:t>Exact-match search campaigns for 'custom birthday cakes near me' and 'luxury corporate gift boxes'.</a:t>
            </a:r>
          </a:p>
          <a:p>
            <a:br/>
            <a:pPr>
              <a:defRPr sz="1000" b="1">
                <a:solidFill>
                  <a:srgbClr val="3A2321"/>
                </a:solidFill>
              </a:defRPr>
            </a:pPr>
            <a:r>
              <a:t>• Target KPI:</a:t>
            </a:r>
          </a:p>
          <a:p>
            <a:pPr>
              <a:defRPr sz="900">
                <a:solidFill>
                  <a:srgbClr val="2D2422"/>
                </a:solidFill>
              </a:defRPr>
            </a:pPr>
            <a:r>
              <a:t>Customer Acquisition Cost (CAC) &lt; INR 180; 3.5x Return on Ad Spend (ROAS) during festive seasons.</a:t>
            </a:r>
          </a:p>
        </p:txBody>
      </p:sp>
      <p:sp>
        <p:nvSpPr>
          <p:cNvPr id="6" name="Rounded Rectangle 5"/>
          <p:cNvSpPr/>
          <p:nvPr/>
        </p:nvSpPr>
        <p:spPr>
          <a:xfrm>
            <a:off x="4389120" y="1691640"/>
            <a:ext cx="3429000" cy="4480560"/>
          </a:xfrm>
          <a:prstGeom prst="roundRect">
            <a:avLst/>
          </a:prstGeom>
          <a:solidFill>
            <a:srgbClr val="FFFFFF"/>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3A2321"/>
                </a:solidFill>
                <a:latin typeface="Georgia"/>
              </a:defRPr>
            </a:pPr>
            <a:r>
              <a:t>OWNED MEDIA (CORE ASSET)</a:t>
            </a:r>
          </a:p>
          <a:p>
            <a:br/>
            <a:pPr>
              <a:defRPr sz="1000" b="1">
                <a:solidFill>
                  <a:srgbClr val="C26343"/>
                </a:solidFill>
              </a:defRPr>
            </a:pPr>
            <a:r>
              <a:t>• Responsive Website:</a:t>
            </a:r>
          </a:p>
          <a:p>
            <a:pPr>
              <a:defRPr sz="900">
                <a:solidFill>
                  <a:srgbClr val="2D2422"/>
                </a:solidFill>
              </a:defRPr>
            </a:pPr>
            <a:r>
              <a:t>The central conversion hub hosting product specifications, instant calculator, and enquiry forms.</a:t>
            </a:r>
          </a:p>
          <a:p>
            <a:br/>
            <a:pPr>
              <a:defRPr sz="1000" b="1">
                <a:solidFill>
                  <a:srgbClr val="C26343"/>
                </a:solidFill>
              </a:defRPr>
            </a:pPr>
            <a:r>
              <a:t>• Instagram Community:</a:t>
            </a:r>
          </a:p>
          <a:p>
            <a:pPr>
              <a:defRPr sz="900">
                <a:solidFill>
                  <a:srgbClr val="2D2422"/>
                </a:solidFill>
              </a:defRPr>
            </a:pPr>
            <a:r>
              <a:t>Visual storytelling on @aaranyabakehouse showcasing cake decorating reels and flavor drops.</a:t>
            </a:r>
          </a:p>
          <a:p>
            <a:br/>
            <a:pPr>
              <a:defRPr sz="1000" b="1">
                <a:solidFill>
                  <a:srgbClr val="C26343"/>
                </a:solidFill>
              </a:defRPr>
            </a:pPr>
            <a:r>
              <a:t>• VIP Email List:</a:t>
            </a:r>
          </a:p>
          <a:p>
            <a:pPr>
              <a:defRPr sz="900">
                <a:solidFill>
                  <a:srgbClr val="2D2422"/>
                </a:solidFill>
              </a:defRPr>
            </a:pPr>
            <a:r>
              <a:t>Lead magnet ('10% off first order') building direct, algorithm-free client communication.</a:t>
            </a:r>
          </a:p>
        </p:txBody>
      </p:sp>
      <p:sp>
        <p:nvSpPr>
          <p:cNvPr id="7" name="Rounded Rectangle 6"/>
          <p:cNvSpPr/>
          <p:nvPr/>
        </p:nvSpPr>
        <p:spPr>
          <a:xfrm>
            <a:off x="8046720" y="1691640"/>
            <a:ext cx="342900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C26343"/>
                </a:solidFill>
                <a:latin typeface="Georgia"/>
              </a:defRPr>
            </a:pPr>
            <a:r>
              <a:t>EARNED MEDIA (VALIDATION)</a:t>
            </a:r>
          </a:p>
          <a:p>
            <a:br/>
            <a:pPr>
              <a:defRPr sz="1000" b="1">
                <a:solidFill>
                  <a:srgbClr val="3A2321"/>
                </a:solidFill>
              </a:defRPr>
            </a:pPr>
            <a:r>
              <a:t>• User-Generated Content:</a:t>
            </a:r>
          </a:p>
          <a:p>
            <a:pPr>
              <a:defRPr sz="900">
                <a:solidFill>
                  <a:srgbClr val="2D2422"/>
                </a:solidFill>
              </a:defRPr>
            </a:pPr>
            <a:r>
              <a:t>Customers tagging #AaranyaCelebrations in party celebration photos and cake cutting videos.</a:t>
            </a:r>
          </a:p>
          <a:p>
            <a:br/>
            <a:pPr>
              <a:defRPr sz="1000" b="1">
                <a:solidFill>
                  <a:srgbClr val="3A2321"/>
                </a:solidFill>
              </a:defRPr>
            </a:pPr>
            <a:r>
              <a:t>• Word-of-Mouth Flywheel:</a:t>
            </a:r>
          </a:p>
          <a:p>
            <a:pPr>
              <a:defRPr sz="900">
                <a:solidFill>
                  <a:srgbClr val="2D2422"/>
                </a:solidFill>
              </a:defRPr>
            </a:pPr>
            <a:r>
              <a:t>60%+ of custom orders generated through peer recommendations and corporate referrals.</a:t>
            </a:r>
          </a:p>
          <a:p>
            <a:br/>
            <a:pPr>
              <a:defRPr sz="1000" b="1">
                <a:solidFill>
                  <a:srgbClr val="3A2321"/>
                </a:solidFill>
              </a:defRPr>
            </a:pPr>
            <a:r>
              <a:t>• Review Sentiment:</a:t>
            </a:r>
          </a:p>
          <a:p>
            <a:pPr>
              <a:defRPr sz="900">
                <a:solidFill>
                  <a:srgbClr val="2D2422"/>
                </a:solidFill>
              </a:defRPr>
            </a:pPr>
            <a:r>
              <a:t>Maintaining a 4.9/5.0 star rating across Google Reviews and featured on-site testimonials.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SEARCH ENGINE OPTIMIZATION</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On-Page SEO Architecture &amp; Schema Integration</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5486400" cy="4480560"/>
          </a:xfrm>
          <a:prstGeom prst="roundRect">
            <a:avLst/>
          </a:prstGeom>
          <a:solidFill>
            <a:srgbClr val="FFFFFF"/>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A2321"/>
                </a:solidFill>
                <a:latin typeface="Georgia"/>
              </a:defRPr>
            </a:pPr>
            <a:r>
              <a:t>TARGET KEYWORD ARCHITECTURE</a:t>
            </a:r>
          </a:p>
          <a:p>
            <a:pPr>
              <a:defRPr sz="900">
                <a:solidFill>
                  <a:srgbClr val="2D2422"/>
                </a:solidFill>
              </a:defRPr>
            </a:pPr>
            <a:r>
              <a:t>• "custom cakes near me" [Transactional]</a:t>
            </a:r>
            <a:br/>
            <a:r>
              <a:t>  Mapped to: index.html (H1 &amp; Meta Description)</a:t>
            </a:r>
          </a:p>
          <a:p>
            <a:pPr>
              <a:defRPr sz="900">
                <a:solidFill>
                  <a:srgbClr val="2D2422"/>
                </a:solidFill>
              </a:defRPr>
            </a:pPr>
            <a:r>
              <a:t>• "artisanal celebration cakes" [Commercial]</a:t>
            </a:r>
            <a:br/>
            <a:r>
              <a:t>  Mapped to: products.html#cakes (H2 &amp; Alt Tags)</a:t>
            </a:r>
          </a:p>
          <a:p>
            <a:pPr>
              <a:defRPr sz="900">
                <a:solidFill>
                  <a:srgbClr val="2D2422"/>
                </a:solidFill>
              </a:defRPr>
            </a:pPr>
            <a:r>
              <a:t>• "customized birthday cupcakes box" [Transactional]</a:t>
            </a:r>
            <a:br/>
            <a:r>
              <a:t>  Mapped to: products.html#cupcakes (Product Spec)</a:t>
            </a:r>
          </a:p>
          <a:p>
            <a:pPr>
              <a:defRPr sz="900">
                <a:solidFill>
                  <a:srgbClr val="2D2422"/>
                </a:solidFill>
              </a:defRPr>
            </a:pPr>
            <a:r>
              <a:t>• "NYC stuffed gourmet cookies" [Informational]</a:t>
            </a:r>
            <a:br/>
            <a:r>
              <a:t>  Mapped to: products.html#cookies (Feature Tags)</a:t>
            </a:r>
          </a:p>
          <a:p>
            <a:pPr>
              <a:defRPr sz="900">
                <a:solidFill>
                  <a:srgbClr val="2D2422"/>
                </a:solidFill>
              </a:defRPr>
            </a:pPr>
            <a:r>
              <a:t>• "luxury corporate dessert hampers" [Commercial B2B]</a:t>
            </a:r>
            <a:br/>
            <a:r>
              <a:t>  Mapped to: products.html#boxes (Hamper Module)</a:t>
            </a:r>
          </a:p>
          <a:p>
            <a:pPr>
              <a:defRPr sz="900">
                <a:solidFill>
                  <a:srgbClr val="2D2422"/>
                </a:solidFill>
              </a:defRPr>
            </a:pPr>
            <a:r>
              <a:t>• "eggless custom bakery studio" [Local Intent]</a:t>
            </a:r>
            <a:br/>
            <a:r>
              <a:t>  Mapped to: about.html (Hygiene &amp; FAQ Section)</a:t>
            </a:r>
          </a:p>
        </p:txBody>
      </p:sp>
      <p:sp>
        <p:nvSpPr>
          <p:cNvPr id="6" name="Rounded Rectangle 5"/>
          <p:cNvSpPr/>
          <p:nvPr/>
        </p:nvSpPr>
        <p:spPr>
          <a:xfrm>
            <a:off x="6492240" y="1691640"/>
            <a:ext cx="4937760" cy="4480560"/>
          </a:xfrm>
          <a:prstGeom prst="roundRect">
            <a:avLst/>
          </a:prstGeom>
          <a:solidFill>
            <a:srgbClr val="F6EFE6"/>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TECHNICAL ON-PAGE IMPLEMENTATION</a:t>
            </a:r>
          </a:p>
          <a:p>
            <a:br/>
            <a:pPr>
              <a:defRPr sz="1000" b="1">
                <a:solidFill>
                  <a:srgbClr val="3A2321"/>
                </a:solidFill>
              </a:defRPr>
            </a:pPr>
            <a:r>
              <a:t>✔ Schema.org Structured Data:</a:t>
            </a:r>
          </a:p>
          <a:p>
            <a:pPr>
              <a:defRPr sz="900">
                <a:solidFill>
                  <a:srgbClr val="2D2422"/>
                </a:solidFill>
              </a:defRPr>
            </a:pPr>
            <a:r>
              <a:t>Embedded JSON-LD markup with '@type: Bakery', studio GPS coordinates, opening hours, and phone number for Google Local Knowledge Graph.</a:t>
            </a:r>
          </a:p>
          <a:p>
            <a:br/>
            <a:pPr>
              <a:defRPr sz="1000" b="1">
                <a:solidFill>
                  <a:srgbClr val="3A2321"/>
                </a:solidFill>
              </a:defRPr>
            </a:pPr>
            <a:r>
              <a:t>✔ Social Graph Metadata:</a:t>
            </a:r>
          </a:p>
          <a:p>
            <a:pPr>
              <a:defRPr sz="900">
                <a:solidFill>
                  <a:srgbClr val="2D2422"/>
                </a:solidFill>
              </a:defRPr>
            </a:pPr>
            <a:r>
              <a:t>Open Graph (og:title, og:image, og:description) and Twitter Card tags configured for rich link previews on WhatsApp and social chats.</a:t>
            </a:r>
          </a:p>
          <a:p>
            <a:br/>
            <a:pPr>
              <a:defRPr sz="1000" b="1">
                <a:solidFill>
                  <a:srgbClr val="3A2321"/>
                </a:solidFill>
              </a:defRPr>
            </a:pPr>
            <a:r>
              <a:t>✔ Heading Hierarchy &amp; Semantic HTML:</a:t>
            </a:r>
          </a:p>
          <a:p>
            <a:pPr>
              <a:defRPr sz="900">
                <a:solidFill>
                  <a:srgbClr val="2D2422"/>
                </a:solidFill>
              </a:defRPr>
            </a:pPr>
            <a:r>
              <a:t>Strict single H1 per page, followed by logical H2 and H3 structures, ensuring clean search engine spider crawling.</a:t>
            </a:r>
          </a:p>
          <a:p>
            <a:br/>
            <a:pPr>
              <a:defRPr sz="1000" b="1">
                <a:solidFill>
                  <a:srgbClr val="3A2321"/>
                </a:solidFill>
              </a:defRPr>
            </a:pPr>
            <a:r>
              <a:t>✔ Performance &amp; Page Speed:</a:t>
            </a:r>
          </a:p>
          <a:p>
            <a:pPr>
              <a:defRPr sz="900">
                <a:solidFill>
                  <a:srgbClr val="2D2422"/>
                </a:solidFill>
              </a:defRPr>
            </a:pPr>
            <a:r>
              <a:t>Optimized WebP/JPEG assets, system font fallbacks, and zero heavy dependencies ensuring sub-1.2s First Contentful Paint.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C26343"/>
                </a:solidFill>
                <a:latin typeface="Georgia"/>
              </a:defRPr>
            </a:pPr>
            <a:r>
              <a:t>STRATEGIC VISION</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3A2321"/>
                </a:solidFill>
                <a:latin typeface="Georgia"/>
              </a:defRPr>
            </a:pPr>
            <a:r>
              <a:t>Future Recommendations: 90-Day Digital Roadmap</a:t>
            </a:r>
          </a:p>
        </p:txBody>
      </p:sp>
      <p:sp>
        <p:nvSpPr>
          <p:cNvPr id="4" name="Rectangle 3"/>
          <p:cNvSpPr/>
          <p:nvPr/>
        </p:nvSpPr>
        <p:spPr>
          <a:xfrm>
            <a:off x="731520" y="1417320"/>
            <a:ext cx="10728655" cy="36576"/>
          </a:xfrm>
          <a:prstGeom prst="rect">
            <a:avLst/>
          </a:prstGeom>
          <a:solidFill>
            <a:srgbClr val="C263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42900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PHASE 1: DAYS 1–30</a:t>
            </a:r>
          </a:p>
          <a:p>
            <a:pPr>
              <a:defRPr sz="1000" b="1">
                <a:solidFill>
                  <a:srgbClr val="3A2321"/>
                </a:solidFill>
              </a:defRPr>
            </a:pPr>
            <a:r>
              <a:t>LOCAL DISCOVERY &amp; ANALYTICS</a:t>
            </a:r>
          </a:p>
          <a:p>
            <a:br/>
            <a:pPr>
              <a:defRPr sz="919">
                <a:solidFill>
                  <a:srgbClr val="2D2422"/>
                </a:solidFill>
              </a:defRPr>
            </a:pPr>
            <a:r>
              <a:t>• Complete Google Business Profile verification with studio photos and customer reviews.</a:t>
            </a:r>
          </a:p>
          <a:p>
            <a:br/>
            <a:pPr>
              <a:defRPr sz="919">
                <a:solidFill>
                  <a:srgbClr val="2D2422"/>
                </a:solidFill>
              </a:defRPr>
            </a:pPr>
            <a:r>
              <a:t>• Deploy Google Analytics 4 (GA4) and Meta Pixel to track calculator usage and drop-off funnels.</a:t>
            </a:r>
          </a:p>
          <a:p>
            <a:br/>
            <a:pPr>
              <a:defRPr sz="919">
                <a:solidFill>
                  <a:srgbClr val="2D2422"/>
                </a:solidFill>
              </a:defRPr>
            </a:pPr>
            <a:r>
              <a:t>• Establish local SEO citations across Delhi-NCR food directories.</a:t>
            </a:r>
          </a:p>
        </p:txBody>
      </p:sp>
      <p:sp>
        <p:nvSpPr>
          <p:cNvPr id="6" name="Rounded Rectangle 5"/>
          <p:cNvSpPr/>
          <p:nvPr/>
        </p:nvSpPr>
        <p:spPr>
          <a:xfrm>
            <a:off x="4389120" y="1691640"/>
            <a:ext cx="3429000" cy="4480560"/>
          </a:xfrm>
          <a:prstGeom prst="roundRect">
            <a:avLst/>
          </a:prstGeom>
          <a:solidFill>
            <a:srgbClr val="FFFFFF"/>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PHASE 2: DAYS 31–60</a:t>
            </a:r>
          </a:p>
          <a:p>
            <a:pPr>
              <a:defRPr sz="1000" b="1">
                <a:solidFill>
                  <a:srgbClr val="3A2321"/>
                </a:solidFill>
              </a:defRPr>
            </a:pPr>
            <a:r>
              <a:t>CONVERSATIONAL COMMERCE</a:t>
            </a:r>
          </a:p>
          <a:p>
            <a:br/>
            <a:pPr>
              <a:defRPr sz="919">
                <a:solidFill>
                  <a:srgbClr val="2D2422"/>
                </a:solidFill>
              </a:defRPr>
            </a:pPr>
            <a:r>
              <a:t>• Integrate WhatsApp Business Cloud API automated bot for instant slot availability checks.</a:t>
            </a:r>
          </a:p>
          <a:p>
            <a:br/>
            <a:pPr>
              <a:defRPr sz="919">
                <a:solidFill>
                  <a:srgbClr val="2D2422"/>
                </a:solidFill>
              </a:defRPr>
            </a:pPr>
            <a:r>
              <a:t>• Enable dynamic UPI payment link generation (Google Pay/Paytm/PhonePe) directly within chat.</a:t>
            </a:r>
          </a:p>
          <a:p>
            <a:br/>
            <a:pPr>
              <a:defRPr sz="919">
                <a:solidFill>
                  <a:srgbClr val="2D2422"/>
                </a:solidFill>
              </a:defRPr>
            </a:pPr>
            <a:r>
              <a:t>• Reduce manual consultation response time from 2 hours to under 30 seconds.</a:t>
            </a:r>
          </a:p>
        </p:txBody>
      </p:sp>
      <p:sp>
        <p:nvSpPr>
          <p:cNvPr id="7" name="Rounded Rectangle 6"/>
          <p:cNvSpPr/>
          <p:nvPr/>
        </p:nvSpPr>
        <p:spPr>
          <a:xfrm>
            <a:off x="8046720" y="1691640"/>
            <a:ext cx="3429000" cy="4480560"/>
          </a:xfrm>
          <a:prstGeom prst="roundRect">
            <a:avLst/>
          </a:prstGeom>
          <a:solidFill>
            <a:srgbClr val="F6EFE6"/>
          </a:solidFill>
          <a:ln>
            <a:solidFill>
              <a:srgbClr val="DCCDC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PHASE 3: DAYS 61–90</a:t>
            </a:r>
          </a:p>
          <a:p>
            <a:pPr>
              <a:defRPr sz="1000" b="1">
                <a:solidFill>
                  <a:srgbClr val="3A2321"/>
                </a:solidFill>
              </a:defRPr>
            </a:pPr>
            <a:r>
              <a:t>LOYALTY &amp; RECURRING REVENUE</a:t>
            </a:r>
          </a:p>
          <a:p>
            <a:br/>
            <a:pPr>
              <a:defRPr sz="919">
                <a:solidFill>
                  <a:srgbClr val="2D2422"/>
                </a:solidFill>
              </a:defRPr>
            </a:pPr>
            <a:r>
              <a:t>• Launch 'The Celebration Reminder Service' — automated reminder alerts for family birthdays.</a:t>
            </a:r>
          </a:p>
          <a:p>
            <a:br/>
            <a:pPr>
              <a:defRPr sz="919">
                <a:solidFill>
                  <a:srgbClr val="2D2422"/>
                </a:solidFill>
              </a:defRPr>
            </a:pPr>
            <a:r>
              <a:t>• Introduce monthly artisan cookie subscription boxes for predictable recurring cash flow.</a:t>
            </a:r>
          </a:p>
          <a:p>
            <a:br/>
            <a:pPr>
              <a:defRPr sz="919">
                <a:solidFill>
                  <a:srgbClr val="2D2422"/>
                </a:solidFill>
              </a:defRPr>
            </a:pPr>
            <a:r>
              <a:t>• Pilot micro-influencer gifting with local parenting and lifestyle content creators.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3A2321"/>
        </a:solidFill>
        <a:effectLst/>
      </p:bgPr>
    </p:bg>
    <p:spTree>
      <p:nvGrpSpPr>
        <p:cNvPr id="1" name=""/>
        <p:cNvGrpSpPr/>
        <p:nvPr/>
      </p:nvGrpSpPr>
      <p:grpSpPr/>
      <p:sp>
        <p:nvSpPr>
          <p:cNvPr id="2" name="TextBox 1"/>
          <p:cNvSpPr txBox="1"/>
          <p:nvPr/>
        </p:nvSpPr>
        <p:spPr>
          <a:xfrm>
            <a:off x="731520" y="411480"/>
            <a:ext cx="10698480" cy="365760"/>
          </a:xfrm>
          <a:prstGeom prst="rect">
            <a:avLst/>
          </a:prstGeom>
          <a:noFill/>
        </p:spPr>
        <p:txBody>
          <a:bodyPr wrap="square" lIns="0" tIns="0" rIns="0" bIns="0">
            <a:spAutoFit/>
          </a:bodyPr>
          <a:lstStyle/>
          <a:p>
            <a:pPr>
              <a:defRPr sz="1100" b="1">
                <a:solidFill>
                  <a:srgbClr val="D4A373"/>
                </a:solidFill>
                <a:latin typeface="Georgia"/>
              </a:defRPr>
            </a:pPr>
            <a:r>
              <a:t>COURSE REFLECTIONS</a:t>
            </a:r>
          </a:p>
        </p:txBody>
      </p:sp>
      <p:sp>
        <p:nvSpPr>
          <p:cNvPr id="3" name="TextBox 2"/>
          <p:cNvSpPr txBox="1"/>
          <p:nvPr/>
        </p:nvSpPr>
        <p:spPr>
          <a:xfrm>
            <a:off x="731520" y="731520"/>
            <a:ext cx="10698480" cy="640080"/>
          </a:xfrm>
          <a:prstGeom prst="rect">
            <a:avLst/>
          </a:prstGeom>
          <a:noFill/>
        </p:spPr>
        <p:txBody>
          <a:bodyPr wrap="square" lIns="0" tIns="0" rIns="0" bIns="0">
            <a:spAutoFit/>
          </a:bodyPr>
          <a:lstStyle/>
          <a:p>
            <a:pPr>
              <a:defRPr sz="2400" b="1">
                <a:solidFill>
                  <a:srgbClr val="FFFFFF"/>
                </a:solidFill>
                <a:latin typeface="Georgia"/>
              </a:defRPr>
            </a:pPr>
            <a:r>
              <a:t>Key Learning Outcomes &amp; Conclusion</a:t>
            </a:r>
          </a:p>
        </p:txBody>
      </p:sp>
      <p:sp>
        <p:nvSpPr>
          <p:cNvPr id="4" name="Rectangle 3"/>
          <p:cNvSpPr/>
          <p:nvPr/>
        </p:nvSpPr>
        <p:spPr>
          <a:xfrm>
            <a:off x="731520" y="1417320"/>
            <a:ext cx="10728655" cy="36576"/>
          </a:xfrm>
          <a:prstGeom prst="rect">
            <a:avLst/>
          </a:prstGeom>
          <a:solidFill>
            <a:srgbClr val="D4A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5212080" cy="4480560"/>
          </a:xfrm>
          <a:prstGeom prst="roundRect">
            <a:avLst/>
          </a:prstGeom>
          <a:solidFill>
            <a:srgbClr val="4A2D2A"/>
          </a:solidFill>
          <a:ln>
            <a:solidFill>
              <a:srgbClr val="D4A3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4A373"/>
                </a:solidFill>
                <a:latin typeface="Georgia"/>
              </a:defRPr>
            </a:pPr>
            <a:r>
              <a:t>KEY ACADEMIC LEARNINGS (COURSE 2106)</a:t>
            </a:r>
          </a:p>
          <a:p>
            <a:br/>
            <a:pPr>
              <a:defRPr sz="1000" b="1">
                <a:solidFill>
                  <a:srgbClr val="FFFFFF"/>
                </a:solidFill>
              </a:defRPr>
            </a:pPr>
            <a:r>
              <a:t>• Digital Model Alignment:</a:t>
            </a:r>
          </a:p>
          <a:p>
            <a:pPr>
              <a:defRPr sz="900">
                <a:solidFill>
                  <a:srgbClr val="DCCDC3"/>
                </a:solidFill>
              </a:defRPr>
            </a:pPr>
            <a:r>
              <a:t>Recognized that technology must serve the business model. For custom luxury goods, a consultative enquiry funnel converts significantly higher than an impersonal e-commerce cart.</a:t>
            </a:r>
          </a:p>
          <a:p>
            <a:br/>
            <a:pPr>
              <a:defRPr sz="1000" b="1">
                <a:solidFill>
                  <a:srgbClr val="FFFFFF"/>
                </a:solidFill>
              </a:defRPr>
            </a:pPr>
            <a:r>
              <a:t>• UX &amp; Conversion Psychology:</a:t>
            </a:r>
          </a:p>
          <a:p>
            <a:pPr>
              <a:defRPr sz="900">
                <a:solidFill>
                  <a:srgbClr val="DCCDC3"/>
                </a:solidFill>
              </a:defRPr>
            </a:pPr>
            <a:r>
              <a:t>Mastered how visual hierarchy, transparent pricing calculators, and social trust signals dismantle customer purchase anxiety.</a:t>
            </a:r>
          </a:p>
          <a:p>
            <a:br/>
            <a:pPr>
              <a:defRPr sz="1000" b="1">
                <a:solidFill>
                  <a:srgbClr val="FFFFFF"/>
                </a:solidFill>
              </a:defRPr>
            </a:pPr>
            <a:r>
              <a:t>• Full-Funnel Digital Integration:</a:t>
            </a:r>
          </a:p>
          <a:p>
            <a:pPr>
              <a:defRPr sz="900">
                <a:solidFill>
                  <a:srgbClr val="DCCDC3"/>
                </a:solidFill>
              </a:defRPr>
            </a:pPr>
            <a:r>
              <a:t>Gained practical mastery synthesizing on-page SEO, technical Schema, and POEM marketing into a unified acquisition strategy.</a:t>
            </a:r>
          </a:p>
        </p:txBody>
      </p:sp>
      <p:sp>
        <p:nvSpPr>
          <p:cNvPr id="6" name="Rounded Rectangle 5"/>
          <p:cNvSpPr/>
          <p:nvPr/>
        </p:nvSpPr>
        <p:spPr>
          <a:xfrm>
            <a:off x="6217920" y="1691640"/>
            <a:ext cx="5212080" cy="4480560"/>
          </a:xfrm>
          <a:prstGeom prst="roundRect">
            <a:avLst/>
          </a:prstGeom>
          <a:solidFill>
            <a:srgbClr val="4A2D2A"/>
          </a:solidFill>
          <a:ln>
            <a:solidFill>
              <a:srgbClr val="C2634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C26343"/>
                </a:solidFill>
                <a:latin typeface="Georgia"/>
              </a:defRPr>
            </a:pPr>
            <a:r>
              <a:t>DELIVERABLES VERIFICATION &amp; THANK YOU</a:t>
            </a:r>
          </a:p>
          <a:p>
            <a:br/>
            <a:pPr>
              <a:defRPr sz="950">
                <a:solidFill>
                  <a:srgbClr val="FFFFFF"/>
                </a:solidFill>
              </a:defRPr>
            </a:pPr>
            <a:r>
              <a:t>✔ Live Website URL:</a:t>
            </a:r>
            <a:br/>
            <a:r>
              <a:t>https://harsh2715.github.io/aaranya-bakehouse/</a:t>
            </a:r>
          </a:p>
          <a:p>
            <a:br/>
            <a:pPr>
              <a:defRPr sz="950">
                <a:solidFill>
                  <a:srgbClr val="FFFFFF"/>
                </a:solidFill>
              </a:defRPr>
            </a:pPr>
            <a:r>
              <a:t>✔ Source Code Repository:</a:t>
            </a:r>
            <a:br/>
            <a:r>
              <a:t>https://github.com/harsh2715/aaranya-bakehouse</a:t>
            </a:r>
          </a:p>
          <a:p>
            <a:br/>
            <a:pPr>
              <a:defRPr sz="950">
                <a:solidFill>
                  <a:srgbClr val="FFFFFF"/>
                </a:solidFill>
              </a:defRPr>
            </a:pPr>
            <a:r>
              <a:t>✔ Project Report:</a:t>
            </a:r>
            <a:br/>
            <a:r>
              <a:t>3-Page PDF Report (ReportLab formatted)</a:t>
            </a:r>
          </a:p>
          <a:p>
            <a:br/>
            <a:pPr>
              <a:defRPr sz="950">
                <a:solidFill>
                  <a:srgbClr val="FFFFFF"/>
                </a:solidFill>
              </a:defRPr>
            </a:pPr>
            <a:r>
              <a:t>✔ Academic Integrity:</a:t>
            </a:r>
            <a:br/>
            <a:r>
              <a:t>Original work designed &amp; submitted for Course 2106</a:t>
            </a:r>
          </a:p>
          <a:p>
            <a:br/>
            <a:pPr>
              <a:defRPr sz="1100" b="1">
                <a:solidFill>
                  <a:srgbClr val="D4A373"/>
                </a:solidFill>
              </a:defRPr>
            </a:pPr>
            <a:r>
              <a:t>Thank you for your time and guidance!</a:t>
            </a:r>
            <a:br/>
            <a:r>
              <a:t>I welcome your questions and feedback.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